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163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8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3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87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23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45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73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2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4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7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72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FF068-323E-4E2C-A454-96D8D1E0AB5F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3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bs.com/career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rganstanleychina.com/people/student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pmorgan.com/career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jobs.citi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瑞银 </a:t>
            </a:r>
            <a:r>
              <a:rPr lang="en-US" altLang="zh-CN" dirty="0"/>
              <a:t>UBS</a:t>
            </a:r>
            <a:r>
              <a:rPr lang="zh-CN" altLang="en-US" dirty="0" smtClean="0"/>
              <a:t>｜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GTP </a:t>
            </a:r>
            <a:r>
              <a:rPr lang="en-US" altLang="zh-CN" dirty="0"/>
              <a:t>Graduate Talent Program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b="1" dirty="0"/>
              <a:t>官网投递入口</a:t>
            </a:r>
            <a:r>
              <a:rPr lang="zh-CN" altLang="en-US" dirty="0"/>
              <a:t>：</a:t>
            </a:r>
            <a:r>
              <a:rPr lang="en-US" altLang="zh-CN" dirty="0">
                <a:hlinkClick r:id="rId2"/>
              </a:rPr>
              <a:t>https://www.ubs.com/careers</a:t>
            </a:r>
            <a:r>
              <a:rPr lang="en-US" altLang="zh-CN" dirty="0"/>
              <a:t> </a:t>
            </a:r>
            <a:r>
              <a:rPr lang="zh-CN" altLang="en-US" dirty="0"/>
              <a:t>搜索关键词：</a:t>
            </a:r>
            <a:r>
              <a:rPr lang="en-US" altLang="zh-CN" dirty="0"/>
              <a:t>Graduate Talent Program‑Mainland China</a:t>
            </a:r>
          </a:p>
          <a:p>
            <a:pPr>
              <a:buFont typeface="Arial"/>
              <a:buChar char="•"/>
            </a:pPr>
            <a:r>
              <a:rPr lang="zh-CN" altLang="en-US" dirty="0"/>
              <a:t>开放岗位（上海）：</a:t>
            </a:r>
            <a:r>
              <a:rPr lang="en-US" altLang="zh-CN" dirty="0"/>
              <a:t>Global Markets</a:t>
            </a:r>
            <a:r>
              <a:rPr lang="zh-CN" altLang="en-US" dirty="0"/>
              <a:t>、</a:t>
            </a:r>
            <a:r>
              <a:rPr lang="en-US" altLang="zh-CN" dirty="0"/>
              <a:t>Research</a:t>
            </a:r>
            <a:r>
              <a:rPr lang="zh-CN" altLang="en-US" dirty="0"/>
              <a:t>、</a:t>
            </a:r>
            <a:r>
              <a:rPr lang="en-US" altLang="zh-CN" dirty="0"/>
              <a:t>Group Technology</a:t>
            </a:r>
            <a:r>
              <a:rPr lang="zh-CN" altLang="en-US" dirty="0"/>
              <a:t>、</a:t>
            </a:r>
            <a:r>
              <a:rPr lang="en-US" altLang="zh-CN" dirty="0"/>
              <a:t>Risk</a:t>
            </a:r>
            <a:r>
              <a:rPr lang="zh-CN" altLang="en-US" dirty="0"/>
              <a:t>、</a:t>
            </a:r>
            <a:r>
              <a:rPr lang="en-US" altLang="zh-CN" dirty="0"/>
              <a:t>Operations</a:t>
            </a:r>
          </a:p>
          <a:p>
            <a:pPr>
              <a:buFont typeface="Arial"/>
              <a:buChar char="•"/>
            </a:pPr>
            <a:r>
              <a:rPr lang="zh-CN" altLang="en-US" b="1" dirty="0"/>
              <a:t>硬性申请条件</a:t>
            </a:r>
            <a:r>
              <a:rPr lang="zh-CN" altLang="en-US" dirty="0"/>
              <a:t> 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本科及以上学历；</a:t>
            </a:r>
            <a:r>
              <a:rPr lang="en-US" altLang="zh-CN" b="1" dirty="0"/>
              <a:t>2027‑07 </a:t>
            </a:r>
            <a:r>
              <a:rPr lang="zh-CN" altLang="en-US" b="1" dirty="0"/>
              <a:t>前取得学位，全职工作经验＜</a:t>
            </a:r>
            <a:r>
              <a:rPr lang="en-US" altLang="zh-CN" b="1" dirty="0"/>
              <a:t>2 </a:t>
            </a:r>
            <a:r>
              <a:rPr lang="zh-CN" altLang="en-US" b="1" dirty="0"/>
              <a:t>年</a:t>
            </a:r>
            <a:r>
              <a:rPr lang="zh-CN" altLang="en-US" dirty="0"/>
              <a:t>；你的 </a:t>
            </a:r>
            <a:r>
              <a:rPr lang="en-US" altLang="zh-CN" dirty="0"/>
              <a:t>2026‑01 </a:t>
            </a:r>
            <a:r>
              <a:rPr lang="zh-CN" altLang="en-US" dirty="0"/>
              <a:t>毕业满足该规则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中英文流利，全英文笔试、</a:t>
            </a:r>
            <a:r>
              <a:rPr lang="en-US" altLang="zh-CN" dirty="0" err="1"/>
              <a:t>HireVue</a:t>
            </a:r>
            <a:r>
              <a:rPr lang="en-US" altLang="zh-CN" dirty="0"/>
              <a:t> </a:t>
            </a:r>
            <a:r>
              <a:rPr lang="zh-CN" altLang="en-US" dirty="0"/>
              <a:t>视频面试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专业偏好：统计、数理金融、计算机、金融工程优先</a:t>
            </a:r>
          </a:p>
          <a:p>
            <a:pPr>
              <a:buFont typeface="Arial"/>
              <a:buChar char="•"/>
            </a:pPr>
            <a:r>
              <a:rPr lang="zh-CN" altLang="en-US" b="1" dirty="0"/>
              <a:t>网申开放：</a:t>
            </a:r>
            <a:r>
              <a:rPr lang="en-US" altLang="zh-CN" b="1" dirty="0"/>
              <a:t>2026‑08‑17</a:t>
            </a:r>
            <a:r>
              <a:rPr lang="zh-CN" altLang="en-US" b="1" dirty="0"/>
              <a:t>；官方截止：</a:t>
            </a:r>
            <a:r>
              <a:rPr lang="en-US" altLang="zh-CN" b="1" dirty="0"/>
              <a:t>2026‑10‑31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950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摩根士丹利 </a:t>
            </a:r>
            <a:r>
              <a:rPr lang="en-US" altLang="zh-CN" dirty="0"/>
              <a:t>MS</a:t>
            </a:r>
            <a:r>
              <a:rPr lang="zh-CN" altLang="en-US" dirty="0"/>
              <a:t>｜</a:t>
            </a:r>
            <a:r>
              <a:rPr lang="en-US" altLang="zh-CN" dirty="0"/>
              <a:t>Graduate Analyst Program </a:t>
            </a:r>
            <a:r>
              <a:rPr lang="zh-CN" altLang="en-US" dirty="0"/>
              <a:t>上海全职管培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b="1" dirty="0"/>
              <a:t>官网投递入口</a:t>
            </a:r>
            <a:r>
              <a:rPr lang="zh-CN" altLang="en-US" dirty="0"/>
              <a:t>：</a:t>
            </a:r>
            <a:r>
              <a:rPr lang="en-US" altLang="zh-CN" dirty="0">
                <a:hlinkClick r:id="rId2"/>
              </a:rPr>
              <a:t>https://www.morganstanleychina.com/people/students</a:t>
            </a:r>
            <a:r>
              <a:rPr lang="en-US" altLang="zh-CN" dirty="0"/>
              <a:t>‑and‑graduates</a:t>
            </a:r>
            <a:r>
              <a:rPr lang="zh-CN" altLang="en-US" dirty="0"/>
              <a:t>摩根士丹利</a:t>
            </a:r>
            <a:r>
              <a:rPr lang="en-US" altLang="zh-CN" dirty="0"/>
              <a:t>...</a:t>
            </a:r>
          </a:p>
          <a:p>
            <a:pPr>
              <a:buFont typeface="Arial"/>
              <a:buChar char="•"/>
            </a:pPr>
            <a:r>
              <a:rPr lang="zh-CN" altLang="en-US" dirty="0"/>
              <a:t>开放岗位（上海优先投递）：</a:t>
            </a:r>
            <a:r>
              <a:rPr lang="en-US" altLang="zh-CN" dirty="0"/>
              <a:t>Quant Research</a:t>
            </a:r>
            <a:r>
              <a:rPr lang="zh-CN" altLang="en-US" dirty="0"/>
              <a:t>、</a:t>
            </a:r>
            <a:r>
              <a:rPr lang="en-US" altLang="zh-CN" dirty="0"/>
              <a:t>Risk</a:t>
            </a:r>
            <a:r>
              <a:rPr lang="zh-CN" altLang="en-US" dirty="0"/>
              <a:t>、</a:t>
            </a:r>
            <a:r>
              <a:rPr lang="en-US" altLang="zh-CN" dirty="0"/>
              <a:t>Wealth Management</a:t>
            </a:r>
            <a:r>
              <a:rPr lang="zh-CN" altLang="en-US" dirty="0"/>
              <a:t>；</a:t>
            </a:r>
            <a:r>
              <a:rPr lang="zh-CN" altLang="en-US" b="1" dirty="0"/>
              <a:t>避开 </a:t>
            </a:r>
            <a:r>
              <a:rPr lang="en-US" altLang="zh-CN" b="1" dirty="0"/>
              <a:t>IBD </a:t>
            </a:r>
            <a:r>
              <a:rPr lang="zh-CN" altLang="en-US" b="1" dirty="0"/>
              <a:t>前台</a:t>
            </a:r>
            <a:endParaRPr lang="zh-CN" altLang="en-US" dirty="0"/>
          </a:p>
          <a:p>
            <a:pPr>
              <a:buFont typeface="Arial"/>
              <a:buChar char="•"/>
            </a:pPr>
            <a:r>
              <a:rPr lang="zh-CN" altLang="en-US" b="1" dirty="0"/>
              <a:t>硬性申请条件</a:t>
            </a:r>
            <a:r>
              <a:rPr lang="zh-CN" altLang="en-US" dirty="0"/>
              <a:t> 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本科 </a:t>
            </a:r>
            <a:r>
              <a:rPr lang="en-US" altLang="zh-CN" dirty="0"/>
              <a:t>/ </a:t>
            </a:r>
            <a:r>
              <a:rPr lang="zh-CN" altLang="en-US" dirty="0"/>
              <a:t>硕士；</a:t>
            </a:r>
            <a:r>
              <a:rPr lang="zh-CN" altLang="en-US" b="1" dirty="0"/>
              <a:t>毕业 </a:t>
            </a:r>
            <a:r>
              <a:rPr lang="en-US" altLang="zh-CN" b="1" dirty="0"/>
              <a:t>2 </a:t>
            </a:r>
            <a:r>
              <a:rPr lang="zh-CN" altLang="en-US" b="1" dirty="0"/>
              <a:t>年内可申请毕业生项目通道</a:t>
            </a:r>
            <a:r>
              <a:rPr lang="zh-CN" altLang="en-US" dirty="0"/>
              <a:t>，无全职工作经历优先；你的 </a:t>
            </a:r>
            <a:r>
              <a:rPr lang="en-US" altLang="zh-CN" dirty="0"/>
              <a:t>2026‑01 </a:t>
            </a:r>
            <a:r>
              <a:rPr lang="zh-CN" altLang="en-US" dirty="0"/>
              <a:t>毕业符合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英文流利；量化岗看重 </a:t>
            </a:r>
            <a:r>
              <a:rPr lang="en-US" altLang="zh-CN" dirty="0"/>
              <a:t>Python/SQL</a:t>
            </a:r>
            <a:r>
              <a:rPr lang="zh-CN" altLang="en-US" dirty="0"/>
              <a:t>、统计建模能力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目标院校偏好，</a:t>
            </a:r>
            <a:r>
              <a:rPr lang="en-US" altLang="zh-CN" dirty="0"/>
              <a:t>BU </a:t>
            </a:r>
            <a:r>
              <a:rPr lang="zh-CN" altLang="en-US" dirty="0"/>
              <a:t>属于目标院校；</a:t>
            </a:r>
            <a:r>
              <a:rPr lang="en-US" altLang="zh-CN" dirty="0"/>
              <a:t>GPA </a:t>
            </a:r>
            <a:r>
              <a:rPr lang="zh-CN" altLang="en-US" dirty="0"/>
              <a:t>建议 </a:t>
            </a:r>
            <a:r>
              <a:rPr lang="en-US" altLang="zh-CN" dirty="0"/>
              <a:t>3.2+</a:t>
            </a:r>
          </a:p>
          <a:p>
            <a:pPr>
              <a:buFont typeface="Arial"/>
              <a:buChar char="•"/>
            </a:pPr>
            <a:r>
              <a:rPr lang="zh-CN" altLang="en-US" b="1" dirty="0"/>
              <a:t>时间规则：滚动招聘，无统一固定截止日；建议 </a:t>
            </a:r>
            <a:r>
              <a:rPr lang="en-US" altLang="zh-CN" b="1" dirty="0"/>
              <a:t>2026‑10‑15 </a:t>
            </a:r>
            <a:r>
              <a:rPr lang="zh-CN" altLang="en-US" b="1" dirty="0"/>
              <a:t>前完成投递</a:t>
            </a:r>
            <a:r>
              <a:rPr lang="zh-CN" altLang="en-US" dirty="0"/>
              <a:t>，岗位招满会提前关闭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7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摩根大通 </a:t>
            </a:r>
            <a:r>
              <a:rPr lang="en-US" altLang="zh-CN" dirty="0"/>
              <a:t>JPMorgan</a:t>
            </a:r>
            <a:r>
              <a:rPr lang="zh-CN" altLang="en-US" dirty="0"/>
              <a:t>｜</a:t>
            </a:r>
            <a:r>
              <a:rPr lang="en-US" altLang="zh-CN" dirty="0"/>
              <a:t>China Graduate Program</a:t>
            </a:r>
            <a:r>
              <a:rPr lang="zh-CN" altLang="en-US" dirty="0"/>
              <a:t>（上海）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600" b="0" i="0" dirty="0" smtClean="0">
              <a:solidFill>
                <a:srgbClr val="000000"/>
              </a:solidFill>
              <a:effectLst/>
              <a:latin typeface="微软雅黑"/>
            </a:endParaRPr>
          </a:p>
          <a:p>
            <a:r>
              <a:rPr lang="zh-CN" altLang="en-US" b="1" dirty="0"/>
              <a:t>官网投递入口</a:t>
            </a:r>
            <a:r>
              <a:rPr lang="zh-CN" altLang="en-US" dirty="0"/>
              <a:t>：</a:t>
            </a:r>
            <a:r>
              <a:rPr lang="en-US" altLang="zh-CN" dirty="0">
                <a:hlinkClick r:id="rId2"/>
              </a:rPr>
              <a:t>https://www.jpmorgan.com/careers</a:t>
            </a:r>
            <a:r>
              <a:rPr lang="en-US" altLang="zh-CN" dirty="0"/>
              <a:t> </a:t>
            </a:r>
            <a:r>
              <a:rPr lang="zh-CN" altLang="en-US" dirty="0"/>
              <a:t>搜索关键词：</a:t>
            </a:r>
            <a:r>
              <a:rPr lang="en-US" altLang="zh-CN" dirty="0"/>
              <a:t>China Graduate Analyst Program‑Shanghai</a:t>
            </a:r>
          </a:p>
          <a:p>
            <a:pPr>
              <a:buFont typeface="Arial"/>
              <a:buChar char="•"/>
            </a:pPr>
            <a:r>
              <a:rPr lang="zh-CN" altLang="en-US" dirty="0"/>
              <a:t>开放岗位（上海优先投递）：</a:t>
            </a:r>
            <a:r>
              <a:rPr lang="en-US" altLang="zh-CN" dirty="0"/>
              <a:t>Risk</a:t>
            </a:r>
            <a:r>
              <a:rPr lang="zh-CN" altLang="en-US" dirty="0"/>
              <a:t>、</a:t>
            </a:r>
            <a:r>
              <a:rPr lang="en-US" altLang="zh-CN" dirty="0"/>
              <a:t>Asset Management (AM)</a:t>
            </a:r>
            <a:r>
              <a:rPr lang="zh-CN" altLang="en-US" dirty="0"/>
              <a:t>、</a:t>
            </a:r>
            <a:r>
              <a:rPr lang="en-US" altLang="zh-CN" dirty="0"/>
              <a:t>Global Markets</a:t>
            </a:r>
            <a:r>
              <a:rPr lang="zh-CN" altLang="en-US" dirty="0"/>
              <a:t>；</a:t>
            </a:r>
            <a:r>
              <a:rPr lang="zh-CN" altLang="en-US" b="1" dirty="0"/>
              <a:t>避开 </a:t>
            </a:r>
            <a:r>
              <a:rPr lang="en-US" altLang="zh-CN" b="1" dirty="0"/>
              <a:t>IBD </a:t>
            </a:r>
            <a:r>
              <a:rPr lang="zh-CN" altLang="en-US" b="1" dirty="0"/>
              <a:t>前台</a:t>
            </a:r>
            <a:endParaRPr lang="zh-CN" altLang="en-US" dirty="0"/>
          </a:p>
          <a:p>
            <a:pPr>
              <a:buFont typeface="Arial"/>
              <a:buChar char="•"/>
            </a:pPr>
            <a:r>
              <a:rPr lang="zh-CN" altLang="en-US" b="1" dirty="0"/>
              <a:t>硬性申请条件</a:t>
            </a:r>
            <a:r>
              <a:rPr lang="zh-CN" altLang="en-US" dirty="0"/>
              <a:t> 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本科及以上；</a:t>
            </a:r>
            <a:r>
              <a:rPr lang="zh-CN" altLang="en-US" b="1" dirty="0"/>
              <a:t>毕业 </a:t>
            </a:r>
            <a:r>
              <a:rPr lang="en-US" altLang="zh-CN" b="1" dirty="0"/>
              <a:t>2 </a:t>
            </a:r>
            <a:r>
              <a:rPr lang="zh-CN" altLang="en-US" b="1" dirty="0"/>
              <a:t>年内海归可走 </a:t>
            </a:r>
            <a:r>
              <a:rPr lang="en-US" altLang="zh-CN" b="1" dirty="0"/>
              <a:t>graduate </a:t>
            </a:r>
            <a:r>
              <a:rPr lang="zh-CN" altLang="en-US" b="1" dirty="0"/>
              <a:t>校招通道；无全职工作经历</a:t>
            </a:r>
            <a:endParaRPr lang="zh-CN" altLang="en-US" dirty="0"/>
          </a:p>
          <a:p>
            <a:pPr lvl="1">
              <a:buFont typeface="Arial"/>
              <a:buChar char="•"/>
            </a:pPr>
            <a:r>
              <a:rPr lang="zh-CN" altLang="en-US" dirty="0"/>
              <a:t>英文流利；风控、资管对 </a:t>
            </a:r>
            <a:r>
              <a:rPr lang="en-US" altLang="zh-CN" dirty="0"/>
              <a:t>GPA</a:t>
            </a:r>
            <a:r>
              <a:rPr lang="zh-CN" altLang="en-US" dirty="0"/>
              <a:t>、实习门槛低于 </a:t>
            </a:r>
            <a:r>
              <a:rPr lang="en-US" altLang="zh-CN" dirty="0"/>
              <a:t>IBD </a:t>
            </a:r>
            <a:r>
              <a:rPr lang="zh-CN" altLang="en-US" dirty="0"/>
              <a:t>前台</a:t>
            </a:r>
          </a:p>
          <a:p>
            <a:pPr>
              <a:buFont typeface="Arial"/>
              <a:buChar char="•"/>
            </a:pPr>
            <a:r>
              <a:rPr lang="zh-CN" altLang="en-US" b="1" dirty="0"/>
              <a:t>时间规则：滚动招聘，无统一截止；强烈建议 </a:t>
            </a:r>
            <a:r>
              <a:rPr lang="en-US" altLang="zh-CN" b="1" dirty="0"/>
              <a:t>2026‑10‑10 </a:t>
            </a:r>
            <a:r>
              <a:rPr lang="zh-CN" altLang="en-US" b="1" dirty="0"/>
              <a:t>前投递</a:t>
            </a:r>
            <a:r>
              <a:rPr lang="zh-CN" altLang="en-US" dirty="0"/>
              <a:t>，岗位会提前关闭。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2795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花旗 </a:t>
            </a:r>
            <a:r>
              <a:rPr lang="en-US" altLang="zh-CN" dirty="0"/>
              <a:t>Citi</a:t>
            </a:r>
            <a:r>
              <a:rPr lang="zh-CN" altLang="en-US" dirty="0"/>
              <a:t>｜</a:t>
            </a:r>
            <a:r>
              <a:rPr lang="en-US" altLang="zh-CN" dirty="0"/>
              <a:t>China Graduate Program</a:t>
            </a:r>
            <a:r>
              <a:rPr lang="zh-CN" altLang="en-US" dirty="0"/>
              <a:t>（上海）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b="1" dirty="0"/>
              <a:t>官网投递入口</a:t>
            </a:r>
            <a:r>
              <a:rPr lang="zh-CN" altLang="en-US" dirty="0"/>
              <a:t>：</a:t>
            </a:r>
            <a:r>
              <a:rPr lang="en-US" altLang="zh-CN" dirty="0">
                <a:hlinkClick r:id="rId2"/>
              </a:rPr>
              <a:t>https://jobs.citi.com</a:t>
            </a:r>
            <a:r>
              <a:rPr lang="zh-CN" altLang="en-US" dirty="0"/>
              <a:t> 搜索关键词：</a:t>
            </a:r>
            <a:r>
              <a:rPr lang="en-US" altLang="zh-CN" dirty="0"/>
              <a:t>Graduate Program China‑Shanghai</a:t>
            </a:r>
          </a:p>
          <a:p>
            <a:pPr>
              <a:buFont typeface="Arial"/>
              <a:buChar char="•"/>
            </a:pPr>
            <a:r>
              <a:rPr lang="zh-CN" altLang="en-US" dirty="0"/>
              <a:t>开放岗位（上海优先投递）：</a:t>
            </a:r>
            <a:r>
              <a:rPr lang="en-US" altLang="zh-CN" dirty="0"/>
              <a:t>Risk</a:t>
            </a:r>
            <a:r>
              <a:rPr lang="zh-CN" altLang="en-US" dirty="0"/>
              <a:t>、</a:t>
            </a:r>
            <a:r>
              <a:rPr lang="en-US" altLang="zh-CN" dirty="0"/>
              <a:t>Wealth Management</a:t>
            </a:r>
            <a:r>
              <a:rPr lang="zh-CN" altLang="en-US" dirty="0"/>
              <a:t>、</a:t>
            </a:r>
            <a:r>
              <a:rPr lang="en-US" altLang="zh-CN" dirty="0"/>
              <a:t>Markets</a:t>
            </a:r>
            <a:r>
              <a:rPr lang="zh-CN" altLang="en-US" dirty="0"/>
              <a:t>、</a:t>
            </a:r>
            <a:r>
              <a:rPr lang="en-US" altLang="zh-CN" dirty="0"/>
              <a:t>Treasury</a:t>
            </a:r>
          </a:p>
          <a:p>
            <a:pPr>
              <a:buFont typeface="Arial"/>
              <a:buChar char="•"/>
            </a:pPr>
            <a:r>
              <a:rPr lang="zh-CN" altLang="en-US" b="1" dirty="0"/>
              <a:t>硬性申请条件</a:t>
            </a:r>
            <a:r>
              <a:rPr lang="zh-CN" altLang="en-US" dirty="0"/>
              <a:t> 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本科 </a:t>
            </a:r>
            <a:r>
              <a:rPr lang="en-US" altLang="zh-CN" dirty="0"/>
              <a:t>/ </a:t>
            </a:r>
            <a:r>
              <a:rPr lang="zh-CN" altLang="en-US" dirty="0"/>
              <a:t>硕士，</a:t>
            </a:r>
            <a:r>
              <a:rPr lang="zh-CN" altLang="en-US" b="1" dirty="0"/>
              <a:t>毕业 </a:t>
            </a:r>
            <a:r>
              <a:rPr lang="en-US" altLang="zh-CN" b="1" dirty="0"/>
              <a:t>2 </a:t>
            </a:r>
            <a:r>
              <a:rPr lang="zh-CN" altLang="en-US" b="1" dirty="0"/>
              <a:t>年以内，无职工社保记录</a:t>
            </a:r>
            <a:r>
              <a:rPr lang="zh-CN" altLang="en-US" dirty="0"/>
              <a:t>，你的条件符合；入职前需留服认证</a:t>
            </a:r>
          </a:p>
          <a:p>
            <a:pPr lvl="1">
              <a:buFont typeface="Arial"/>
              <a:buChar char="•"/>
            </a:pPr>
            <a:r>
              <a:rPr lang="zh-CN" altLang="en-US" dirty="0"/>
              <a:t>中英文流利；中后台风控、资管岗位对实习要求相对友好</a:t>
            </a:r>
          </a:p>
          <a:p>
            <a:pPr>
              <a:buFont typeface="Arial"/>
              <a:buChar char="•"/>
            </a:pPr>
            <a:r>
              <a:rPr lang="zh-CN" altLang="en-US" b="1" dirty="0"/>
              <a:t>时间规则：滚动招聘，无固定截止；建议 </a:t>
            </a:r>
            <a:r>
              <a:rPr lang="en-US" altLang="zh-CN" b="1" dirty="0"/>
              <a:t>2026‑10 </a:t>
            </a:r>
            <a:r>
              <a:rPr lang="zh-CN" altLang="en-US" b="1" dirty="0"/>
              <a:t>月底前投递</a:t>
            </a:r>
            <a:r>
              <a:rPr lang="zh-CN" altLang="en-US" dirty="0"/>
              <a:t>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973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423</Words>
  <Application>Microsoft Office PowerPoint</Application>
  <PresentationFormat>全屏显示(4:3)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主题​​</vt:lpstr>
      <vt:lpstr>瑞银 UBS｜ GTP Graduate Talent Program</vt:lpstr>
      <vt:lpstr>摩根士丹利 MS｜Graduate Analyst Program 上海全职管培</vt:lpstr>
      <vt:lpstr>摩根大通 JPMorgan｜China Graduate Program（上海）</vt:lpstr>
      <vt:lpstr>花旗 Citi｜China Graduate Program（上海）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中国工商银行</dc:title>
  <dc:creator>Windows 用户</dc:creator>
  <cp:lastModifiedBy>Windows 用户</cp:lastModifiedBy>
  <cp:revision>6</cp:revision>
  <dcterms:created xsi:type="dcterms:W3CDTF">2026-09-07T02:08:12Z</dcterms:created>
  <dcterms:modified xsi:type="dcterms:W3CDTF">2026-09-08T08:10:03Z</dcterms:modified>
</cp:coreProperties>
</file>