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3" d="100"/>
          <a:sy n="113" d="100"/>
        </p:scale>
        <p:origin x="-158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7DFFF068-323E-4E2C-A454-96D8D1E0AB5F}"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134186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DFFF068-323E-4E2C-A454-96D8D1E0AB5F}"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3667639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7DFFF068-323E-4E2C-A454-96D8D1E0AB5F}"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4131874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DFFF068-323E-4E2C-A454-96D8D1E0AB5F}" type="datetimeFigureOut">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1977237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DFFF068-323E-4E2C-A454-96D8D1E0AB5F}" type="datetimeFigureOut">
              <a:rPr lang="zh-CN" altLang="en-US" smtClean="0"/>
              <a:t>2026/9/7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2723126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DFFF068-323E-4E2C-A454-96D8D1E0AB5F}" type="datetimeFigureOut">
              <a:rPr lang="zh-CN" altLang="en-US" smtClean="0"/>
              <a:t>2026/9/7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3966452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DFFF068-323E-4E2C-A454-96D8D1E0AB5F}" type="datetimeFigureOut">
              <a:rPr lang="zh-CN" altLang="en-US" smtClean="0"/>
              <a:t>2026/9/7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4004739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DFFF068-323E-4E2C-A454-96D8D1E0AB5F}" type="datetimeFigureOut">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1195129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DFFF068-323E-4E2C-A454-96D8D1E0AB5F}" type="datetimeFigureOut">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1135748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DFFF068-323E-4E2C-A454-96D8D1E0AB5F}"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3152375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DFFF068-323E-4E2C-A454-96D8D1E0AB5F}"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2740721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FFF068-323E-4E2C-A454-96D8D1E0AB5F}" type="datetimeFigureOut">
              <a:rPr lang="zh-CN" altLang="en-US" smtClean="0"/>
              <a:t>2026/9/7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6FCF48-257F-412D-9AF4-0780C9C693F2}" type="slidenum">
              <a:rPr lang="zh-CN" altLang="en-US" smtClean="0"/>
              <a:t>‹#›</a:t>
            </a:fld>
            <a:endParaRPr lang="zh-CN" altLang="en-US"/>
          </a:p>
        </p:txBody>
      </p:sp>
    </p:spTree>
    <p:extLst>
      <p:ext uri="{BB962C8B-B14F-4D97-AF65-F5344CB8AC3E}">
        <p14:creationId xmlns:p14="http://schemas.microsoft.com/office/powerpoint/2010/main" val="4283836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job.icbc.com.cn/pc/index.html#/main/school/home/struct"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career.abchina.com/build/index.html#/99"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campus.chinahr.com/pages/2027-boc/#/job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job2.ccb.com/cn/job/plan_index.html?planType=XY"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cmhk.zhiye.com/custom/xiaoyuan?hideAll=tru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job.citic.com/recruit#/portal_job_list?job_class=_HA5_vGGnFMhvX22YfeOAr!OJgg%253D%253D&amp;filter_dict=_HA5_1mORUCHIcinkb36TUrcrnH2sVeq3rRTkDkI4oD38AOVAvSl2M2qrsTUI0Fq9%252B1Sr"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ssetech2026.zhaopin.com/xzjobs/index.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job.spdb.com.cn/campusJob"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中国工商银行</a:t>
            </a:r>
            <a:endParaRPr lang="zh-CN" altLang="en-US" dirty="0"/>
          </a:p>
        </p:txBody>
      </p:sp>
      <p:sp>
        <p:nvSpPr>
          <p:cNvPr id="5" name="内容占位符 4"/>
          <p:cNvSpPr>
            <a:spLocks noGrp="1"/>
          </p:cNvSpPr>
          <p:nvPr>
            <p:ph idx="1"/>
          </p:nvPr>
        </p:nvSpPr>
        <p:spPr/>
        <p:txBody>
          <a:bodyPr>
            <a:normAutofit fontScale="92500" lnSpcReduction="20000"/>
          </a:bodyPr>
          <a:lstStyle/>
          <a:p>
            <a:r>
              <a:rPr lang="en-US" altLang="zh-CN" dirty="0" smtClean="0">
                <a:hlinkClick r:id="rId2"/>
              </a:rPr>
              <a:t>https://job.icbc.com.cn/pc/index.html#/main/school/home/struct</a:t>
            </a:r>
            <a:endParaRPr lang="en-US" altLang="zh-CN" dirty="0" smtClean="0"/>
          </a:p>
          <a:p>
            <a:r>
              <a:rPr lang="zh-CN" altLang="en-US" dirty="0" smtClean="0"/>
              <a:t>主要面向毕业时间为</a:t>
            </a:r>
            <a:r>
              <a:rPr lang="en-US" altLang="zh-CN" dirty="0" smtClean="0"/>
              <a:t>2026</a:t>
            </a:r>
            <a:r>
              <a:rPr lang="zh-CN" altLang="en-US" dirty="0" smtClean="0"/>
              <a:t>年</a:t>
            </a:r>
            <a:r>
              <a:rPr lang="en-US" altLang="zh-CN" dirty="0" smtClean="0"/>
              <a:t>1</a:t>
            </a:r>
            <a:r>
              <a:rPr lang="zh-CN" altLang="en-US" dirty="0" smtClean="0"/>
              <a:t>月至</a:t>
            </a:r>
            <a:r>
              <a:rPr lang="en-US" altLang="zh-CN" dirty="0" smtClean="0"/>
              <a:t>2027</a:t>
            </a:r>
            <a:r>
              <a:rPr lang="zh-CN" altLang="en-US" dirty="0" smtClean="0"/>
              <a:t>年</a:t>
            </a:r>
            <a:r>
              <a:rPr lang="en-US" altLang="zh-CN" dirty="0" smtClean="0"/>
              <a:t>7</a:t>
            </a:r>
            <a:r>
              <a:rPr lang="zh-CN" altLang="en-US" dirty="0" smtClean="0"/>
              <a:t>月的境内外高校毕业生。具体招聘范围及条件以各机构招聘公告为准。</a:t>
            </a:r>
            <a:endParaRPr lang="en-US" altLang="zh-CN" dirty="0" smtClean="0"/>
          </a:p>
          <a:p>
            <a:r>
              <a:rPr lang="zh-CN" altLang="en-US" dirty="0" smtClean="0"/>
              <a:t>网上报名。时间为</a:t>
            </a:r>
            <a:r>
              <a:rPr lang="en-US" altLang="zh-CN" dirty="0" smtClean="0"/>
              <a:t>2026</a:t>
            </a:r>
            <a:r>
              <a:rPr lang="zh-CN" altLang="en-US" dirty="0" smtClean="0"/>
              <a:t>年</a:t>
            </a:r>
            <a:r>
              <a:rPr lang="en-US" altLang="zh-CN" dirty="0" smtClean="0"/>
              <a:t>9</a:t>
            </a:r>
            <a:r>
              <a:rPr lang="zh-CN" altLang="en-US" dirty="0" smtClean="0"/>
              <a:t>月</a:t>
            </a:r>
            <a:r>
              <a:rPr lang="en-US" altLang="zh-CN" dirty="0" smtClean="0"/>
              <a:t>4</a:t>
            </a:r>
            <a:r>
              <a:rPr lang="zh-CN" altLang="en-US" dirty="0" smtClean="0"/>
              <a:t>日</a:t>
            </a:r>
            <a:r>
              <a:rPr lang="en-US" altLang="zh-CN" dirty="0" smtClean="0"/>
              <a:t>-10</a:t>
            </a:r>
            <a:r>
              <a:rPr lang="zh-CN" altLang="en-US" dirty="0" smtClean="0"/>
              <a:t>月</a:t>
            </a:r>
            <a:r>
              <a:rPr lang="en-US" altLang="zh-CN" dirty="0" smtClean="0"/>
              <a:t>8</a:t>
            </a:r>
            <a:r>
              <a:rPr lang="zh-CN" altLang="en-US" dirty="0" smtClean="0"/>
              <a:t>日。请应聘者注册并登录我行人才招聘官方网站（</a:t>
            </a:r>
            <a:r>
              <a:rPr lang="en-US" altLang="zh-CN" dirty="0" smtClean="0"/>
              <a:t>https://job.icbc.com.cn</a:t>
            </a:r>
            <a:r>
              <a:rPr lang="zh-CN" altLang="en-US" dirty="0" smtClean="0"/>
              <a:t>），或关注“中国工商银行人才招聘”微信公众号，点击“我要应聘”栏目，在线填写个人简历，并完成职位申请。</a:t>
            </a:r>
            <a:endParaRPr lang="zh-CN" altLang="en-US" dirty="0"/>
          </a:p>
        </p:txBody>
      </p:sp>
    </p:spTree>
    <p:extLst>
      <p:ext uri="{BB962C8B-B14F-4D97-AF65-F5344CB8AC3E}">
        <p14:creationId xmlns:p14="http://schemas.microsoft.com/office/powerpoint/2010/main" val="296950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prstClr val="black"/>
                </a:solidFill>
              </a:rPr>
              <a:t>中国</a:t>
            </a:r>
            <a:r>
              <a:rPr lang="zh-CN" altLang="en-US" dirty="0">
                <a:solidFill>
                  <a:prstClr val="black"/>
                </a:solidFill>
              </a:rPr>
              <a:t>农业</a:t>
            </a:r>
            <a:r>
              <a:rPr lang="zh-CN" altLang="en-US" dirty="0" smtClean="0">
                <a:solidFill>
                  <a:prstClr val="black"/>
                </a:solidFill>
              </a:rPr>
              <a:t>银行</a:t>
            </a:r>
            <a:endParaRPr lang="zh-CN" altLang="en-US" dirty="0"/>
          </a:p>
        </p:txBody>
      </p:sp>
      <p:sp>
        <p:nvSpPr>
          <p:cNvPr id="3" name="内容占位符 2"/>
          <p:cNvSpPr>
            <a:spLocks noGrp="1"/>
          </p:cNvSpPr>
          <p:nvPr>
            <p:ph idx="1"/>
          </p:nvPr>
        </p:nvSpPr>
        <p:spPr/>
        <p:txBody>
          <a:bodyPr>
            <a:normAutofit fontScale="92500"/>
          </a:bodyPr>
          <a:lstStyle/>
          <a:p>
            <a:r>
              <a:rPr lang="zh-CN" altLang="en-US" dirty="0" smtClean="0">
                <a:hlinkClick r:id="rId2"/>
              </a:rPr>
              <a:t>中国农业银行欢迎您 </a:t>
            </a:r>
            <a:r>
              <a:rPr lang="en-US" altLang="zh-CN" dirty="0" smtClean="0">
                <a:hlinkClick r:id="rId2"/>
              </a:rPr>
              <a:t>(abchina.com)</a:t>
            </a:r>
            <a:endParaRPr lang="en-US" altLang="zh-CN" dirty="0" smtClean="0"/>
          </a:p>
          <a:p>
            <a:r>
              <a:rPr lang="zh-CN" altLang="en-US" dirty="0" smtClean="0"/>
              <a:t>主要面向境内外院校</a:t>
            </a:r>
            <a:r>
              <a:rPr lang="en-US" altLang="zh-CN" dirty="0" smtClean="0"/>
              <a:t>2026</a:t>
            </a:r>
            <a:r>
              <a:rPr lang="zh-CN" altLang="en-US" dirty="0" smtClean="0"/>
              <a:t>年、</a:t>
            </a:r>
            <a:r>
              <a:rPr lang="en-US" altLang="zh-CN" dirty="0" smtClean="0"/>
              <a:t>2027</a:t>
            </a:r>
            <a:r>
              <a:rPr lang="zh-CN" altLang="en-US" dirty="0" smtClean="0"/>
              <a:t>年大学本科及以上学历毕业生，个别地区可招聘</a:t>
            </a:r>
            <a:r>
              <a:rPr lang="en-US" altLang="zh-CN" dirty="0" smtClean="0"/>
              <a:t>2027</a:t>
            </a:r>
            <a:r>
              <a:rPr lang="zh-CN" altLang="en-US" dirty="0" smtClean="0"/>
              <a:t>年大专学历应届毕业生，并应在</a:t>
            </a:r>
            <a:r>
              <a:rPr lang="en-US" altLang="zh-CN" dirty="0" smtClean="0"/>
              <a:t>2027</a:t>
            </a:r>
            <a:r>
              <a:rPr lang="zh-CN" altLang="en-US" dirty="0" smtClean="0"/>
              <a:t>年</a:t>
            </a:r>
            <a:r>
              <a:rPr lang="en-US" altLang="zh-CN" dirty="0" smtClean="0"/>
              <a:t>7</a:t>
            </a:r>
            <a:r>
              <a:rPr lang="zh-CN" altLang="en-US" dirty="0" smtClean="0"/>
              <a:t>月</a:t>
            </a:r>
            <a:r>
              <a:rPr lang="en-US" altLang="zh-CN" dirty="0" smtClean="0"/>
              <a:t>31</a:t>
            </a:r>
            <a:r>
              <a:rPr lang="zh-CN" altLang="en-US" dirty="0" smtClean="0"/>
              <a:t>日前毕业。其中，境内院校毕业生应取得毕业证、学位证，境外院校毕业生应取得毕业证及国家教育部留学服务中心的学历学位认证书。</a:t>
            </a:r>
            <a:endParaRPr lang="en-US" altLang="zh-CN" dirty="0" smtClean="0"/>
          </a:p>
          <a:p>
            <a:r>
              <a:rPr lang="zh-CN" altLang="en-US" dirty="0" smtClean="0"/>
              <a:t>报名时间：即日起</a:t>
            </a:r>
            <a:r>
              <a:rPr lang="en-US" altLang="zh-CN" dirty="0" smtClean="0"/>
              <a:t>—2026</a:t>
            </a:r>
            <a:r>
              <a:rPr lang="zh-CN" altLang="en-US" dirty="0" smtClean="0"/>
              <a:t>年</a:t>
            </a:r>
            <a:r>
              <a:rPr lang="en-US" altLang="zh-CN" dirty="0" smtClean="0"/>
              <a:t>10</a:t>
            </a:r>
            <a:r>
              <a:rPr lang="zh-CN" altLang="en-US" dirty="0" smtClean="0"/>
              <a:t>月</a:t>
            </a:r>
            <a:r>
              <a:rPr lang="en-US" altLang="zh-CN" dirty="0" smtClean="0"/>
              <a:t>8</a:t>
            </a:r>
            <a:r>
              <a:rPr lang="zh-CN" altLang="en-US" dirty="0" smtClean="0"/>
              <a:t>日</a:t>
            </a:r>
            <a:r>
              <a:rPr lang="en-US" altLang="zh-CN" dirty="0" smtClean="0"/>
              <a:t>24</a:t>
            </a:r>
            <a:r>
              <a:rPr lang="zh-CN" altLang="en-US" dirty="0" smtClean="0"/>
              <a:t>时（</a:t>
            </a:r>
            <a:r>
              <a:rPr lang="en-US" altLang="zh-CN" dirty="0"/>
              <a:t>https://career.abchina.com.cn</a:t>
            </a:r>
            <a:r>
              <a:rPr lang="zh-CN" altLang="en-US" dirty="0"/>
              <a:t>）。</a:t>
            </a:r>
          </a:p>
        </p:txBody>
      </p:sp>
    </p:spTree>
    <p:extLst>
      <p:ext uri="{BB962C8B-B14F-4D97-AF65-F5344CB8AC3E}">
        <p14:creationId xmlns:p14="http://schemas.microsoft.com/office/powerpoint/2010/main" val="15478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中国银行</a:t>
            </a:r>
            <a:endParaRPr lang="zh-CN" altLang="en-US" dirty="0"/>
          </a:p>
        </p:txBody>
      </p:sp>
      <p:sp>
        <p:nvSpPr>
          <p:cNvPr id="3" name="内容占位符 2"/>
          <p:cNvSpPr>
            <a:spLocks noGrp="1"/>
          </p:cNvSpPr>
          <p:nvPr>
            <p:ph idx="1"/>
          </p:nvPr>
        </p:nvSpPr>
        <p:spPr/>
        <p:txBody>
          <a:bodyPr>
            <a:normAutofit/>
          </a:bodyPr>
          <a:lstStyle/>
          <a:p>
            <a:endParaRPr lang="en-US" altLang="zh-CN" sz="1600" b="0" i="0" dirty="0" smtClean="0">
              <a:solidFill>
                <a:srgbClr val="000000"/>
              </a:solidFill>
              <a:effectLst/>
              <a:latin typeface="微软雅黑"/>
            </a:endParaRPr>
          </a:p>
          <a:p>
            <a:r>
              <a:rPr lang="zh-CN" altLang="en-US" sz="1600" dirty="0" smtClean="0">
                <a:hlinkClick r:id="rId2"/>
              </a:rPr>
              <a:t>中国银行</a:t>
            </a:r>
            <a:r>
              <a:rPr lang="en-US" altLang="zh-CN" sz="1600" dirty="0" smtClean="0">
                <a:hlinkClick r:id="rId2"/>
              </a:rPr>
              <a:t>2027</a:t>
            </a:r>
            <a:r>
              <a:rPr lang="zh-CN" altLang="en-US" sz="1600" dirty="0" smtClean="0">
                <a:hlinkClick r:id="rId2"/>
              </a:rPr>
              <a:t>年全球校园招聘 </a:t>
            </a:r>
            <a:r>
              <a:rPr lang="en-US" altLang="zh-CN" sz="1600" dirty="0" smtClean="0">
                <a:hlinkClick r:id="rId2"/>
              </a:rPr>
              <a:t>(chinahr.com)</a:t>
            </a:r>
            <a:endParaRPr lang="en-US" altLang="zh-CN" sz="1600" dirty="0">
              <a:solidFill>
                <a:srgbClr val="000000"/>
              </a:solidFill>
              <a:latin typeface="微软雅黑"/>
            </a:endParaRPr>
          </a:p>
          <a:p>
            <a:endParaRPr lang="en-US" altLang="zh-CN" sz="1600" b="0" i="0" dirty="0" smtClean="0">
              <a:solidFill>
                <a:srgbClr val="000000"/>
              </a:solidFill>
              <a:effectLst/>
              <a:latin typeface="微软雅黑"/>
            </a:endParaRPr>
          </a:p>
          <a:p>
            <a:endParaRPr lang="en-US" altLang="zh-CN" sz="1600" dirty="0">
              <a:solidFill>
                <a:srgbClr val="000000"/>
              </a:solidFill>
              <a:latin typeface="微软雅黑"/>
            </a:endParaRPr>
          </a:p>
          <a:p>
            <a:r>
              <a:rPr lang="zh-CN" altLang="en-US" sz="1600" b="0" i="0" dirty="0" smtClean="0">
                <a:solidFill>
                  <a:srgbClr val="000000"/>
                </a:solidFill>
                <a:effectLst/>
                <a:latin typeface="微软雅黑"/>
              </a:rPr>
              <a:t>报名截止时间为北京时间</a:t>
            </a:r>
            <a:r>
              <a:rPr lang="en-US" altLang="zh-CN" sz="1600" b="0" i="0" dirty="0" smtClean="0">
                <a:solidFill>
                  <a:srgbClr val="000000"/>
                </a:solidFill>
                <a:effectLst/>
                <a:latin typeface="微软雅黑"/>
              </a:rPr>
              <a:t>2026</a:t>
            </a:r>
            <a:r>
              <a:rPr lang="zh-CN" altLang="en-US" sz="1600" b="0" i="0" dirty="0" smtClean="0">
                <a:solidFill>
                  <a:srgbClr val="000000"/>
                </a:solidFill>
                <a:effectLst/>
                <a:latin typeface="微软雅黑"/>
              </a:rPr>
              <a:t>年</a:t>
            </a:r>
            <a:r>
              <a:rPr lang="en-US" altLang="zh-CN" sz="1600" b="0" i="0" dirty="0" smtClean="0">
                <a:solidFill>
                  <a:srgbClr val="000000"/>
                </a:solidFill>
                <a:effectLst/>
                <a:latin typeface="微软雅黑"/>
              </a:rPr>
              <a:t>10</a:t>
            </a:r>
            <a:r>
              <a:rPr lang="zh-CN" altLang="en-US" sz="1600" b="0" i="0" dirty="0" smtClean="0">
                <a:solidFill>
                  <a:srgbClr val="000000"/>
                </a:solidFill>
                <a:effectLst/>
                <a:latin typeface="微软雅黑"/>
              </a:rPr>
              <a:t>月</a:t>
            </a:r>
            <a:r>
              <a:rPr lang="en-US" altLang="zh-CN" sz="1600" b="0" i="0" dirty="0" smtClean="0">
                <a:solidFill>
                  <a:srgbClr val="000000"/>
                </a:solidFill>
                <a:effectLst/>
                <a:latin typeface="微软雅黑"/>
              </a:rPr>
              <a:t>9</a:t>
            </a:r>
            <a:r>
              <a:rPr lang="zh-CN" altLang="en-US" sz="1600" b="0" i="0" dirty="0" smtClean="0">
                <a:solidFill>
                  <a:srgbClr val="000000"/>
                </a:solidFill>
                <a:effectLst/>
                <a:latin typeface="微软雅黑"/>
              </a:rPr>
              <a:t>日</a:t>
            </a:r>
            <a:r>
              <a:rPr lang="en-US" altLang="zh-CN" sz="1600" b="0" i="0" dirty="0" smtClean="0">
                <a:solidFill>
                  <a:srgbClr val="000000"/>
                </a:solidFill>
                <a:effectLst/>
                <a:latin typeface="微软雅黑"/>
              </a:rPr>
              <a:t>24</a:t>
            </a:r>
            <a:r>
              <a:rPr lang="zh-CN" altLang="en-US" sz="1600" b="0" i="0" dirty="0" smtClean="0">
                <a:solidFill>
                  <a:srgbClr val="000000"/>
                </a:solidFill>
                <a:effectLst/>
                <a:latin typeface="微软雅黑"/>
              </a:rPr>
              <a:t>点。</a:t>
            </a:r>
            <a:endParaRPr lang="en-US" altLang="zh-CN" sz="1600" b="0" i="0" dirty="0" smtClean="0">
              <a:solidFill>
                <a:srgbClr val="000000"/>
              </a:solidFill>
              <a:effectLst/>
              <a:latin typeface="微软雅黑"/>
            </a:endParaRPr>
          </a:p>
          <a:p>
            <a:endParaRPr lang="en-US" altLang="zh-CN" sz="1600" b="0" i="0" dirty="0" smtClean="0">
              <a:solidFill>
                <a:srgbClr val="000000"/>
              </a:solidFill>
              <a:effectLst/>
              <a:latin typeface="微软雅黑"/>
            </a:endParaRPr>
          </a:p>
          <a:p>
            <a:endParaRPr lang="en-US" altLang="zh-CN" sz="1600" dirty="0">
              <a:solidFill>
                <a:srgbClr val="000000"/>
              </a:solidFill>
              <a:latin typeface="微软雅黑"/>
            </a:endParaRPr>
          </a:p>
          <a:p>
            <a:r>
              <a:rPr lang="en-US" altLang="zh-CN" sz="1600" b="0" i="0" dirty="0" smtClean="0">
                <a:solidFill>
                  <a:srgbClr val="000000"/>
                </a:solidFill>
                <a:effectLst/>
                <a:latin typeface="微软雅黑"/>
              </a:rPr>
              <a:t>1</a:t>
            </a:r>
            <a:r>
              <a:rPr lang="zh-CN" altLang="en-US" sz="1600" b="0" i="0" dirty="0" smtClean="0">
                <a:solidFill>
                  <a:srgbClr val="000000"/>
                </a:solidFill>
                <a:effectLst/>
                <a:latin typeface="微软雅黑"/>
              </a:rPr>
              <a:t>．境内院校应届毕业生，应在</a:t>
            </a:r>
            <a:r>
              <a:rPr lang="en-US" altLang="zh-CN" sz="1600" b="0" i="0" dirty="0" smtClean="0">
                <a:solidFill>
                  <a:srgbClr val="000000"/>
                </a:solidFill>
                <a:effectLst/>
                <a:latin typeface="微软雅黑"/>
              </a:rPr>
              <a:t>2026</a:t>
            </a:r>
            <a:r>
              <a:rPr lang="zh-CN" altLang="en-US" sz="1600" b="0" i="0" dirty="0" smtClean="0">
                <a:solidFill>
                  <a:srgbClr val="000000"/>
                </a:solidFill>
                <a:effectLst/>
                <a:latin typeface="微软雅黑"/>
              </a:rPr>
              <a:t>年</a:t>
            </a:r>
            <a:r>
              <a:rPr lang="en-US" altLang="zh-CN" sz="1600" b="0" i="0" dirty="0" smtClean="0">
                <a:solidFill>
                  <a:srgbClr val="000000"/>
                </a:solidFill>
                <a:effectLst/>
                <a:latin typeface="微软雅黑"/>
              </a:rPr>
              <a:t>1</a:t>
            </a:r>
            <a:r>
              <a:rPr lang="zh-CN" altLang="en-US" sz="1600" b="0" i="0" dirty="0" smtClean="0">
                <a:solidFill>
                  <a:srgbClr val="000000"/>
                </a:solidFill>
                <a:effectLst/>
                <a:latin typeface="微软雅黑"/>
              </a:rPr>
              <a:t>月</a:t>
            </a:r>
            <a:r>
              <a:rPr lang="en-US" altLang="zh-CN" sz="1600" b="0" i="0" dirty="0" smtClean="0">
                <a:solidFill>
                  <a:srgbClr val="000000"/>
                </a:solidFill>
                <a:effectLst/>
                <a:latin typeface="微软雅黑"/>
              </a:rPr>
              <a:t>1</a:t>
            </a:r>
            <a:r>
              <a:rPr lang="zh-CN" altLang="en-US" sz="1600" b="0" i="0" dirty="0" smtClean="0">
                <a:solidFill>
                  <a:srgbClr val="000000"/>
                </a:solidFill>
                <a:effectLst/>
                <a:latin typeface="微软雅黑"/>
              </a:rPr>
              <a:t>日至</a:t>
            </a:r>
            <a:r>
              <a:rPr lang="en-US" altLang="zh-CN" sz="1600" b="0" i="0" dirty="0" smtClean="0">
                <a:solidFill>
                  <a:srgbClr val="000000"/>
                </a:solidFill>
                <a:effectLst/>
                <a:latin typeface="微软雅黑"/>
              </a:rPr>
              <a:t>2027</a:t>
            </a:r>
            <a:r>
              <a:rPr lang="zh-CN" altLang="en-US" sz="1600" b="0" i="0" dirty="0" smtClean="0">
                <a:solidFill>
                  <a:srgbClr val="000000"/>
                </a:solidFill>
                <a:effectLst/>
                <a:latin typeface="微软雅黑"/>
              </a:rPr>
              <a:t>年</a:t>
            </a:r>
            <a:r>
              <a:rPr lang="en-US" altLang="zh-CN" sz="1600" b="0" i="0" dirty="0" smtClean="0">
                <a:solidFill>
                  <a:srgbClr val="000000"/>
                </a:solidFill>
                <a:effectLst/>
                <a:latin typeface="微软雅黑"/>
              </a:rPr>
              <a:t>7</a:t>
            </a:r>
            <a:r>
              <a:rPr lang="zh-CN" altLang="en-US" sz="1600" b="0" i="0" dirty="0" smtClean="0">
                <a:solidFill>
                  <a:srgbClr val="000000"/>
                </a:solidFill>
                <a:effectLst/>
                <a:latin typeface="微软雅黑"/>
              </a:rPr>
              <a:t>月</a:t>
            </a:r>
            <a:r>
              <a:rPr lang="en-US" altLang="zh-CN" sz="1600" b="0" i="0" dirty="0" smtClean="0">
                <a:solidFill>
                  <a:srgbClr val="000000"/>
                </a:solidFill>
                <a:effectLst/>
                <a:latin typeface="微软雅黑"/>
              </a:rPr>
              <a:t>31</a:t>
            </a:r>
            <a:r>
              <a:rPr lang="zh-CN" altLang="en-US" sz="1600" b="0" i="0" dirty="0" smtClean="0">
                <a:solidFill>
                  <a:srgbClr val="000000"/>
                </a:solidFill>
                <a:effectLst/>
                <a:latin typeface="微软雅黑"/>
              </a:rPr>
              <a:t>日期间毕业且为毕业后初次就业，并获得毕业证、学位证原件及相关资格证书，可开始全职工作。</a:t>
            </a:r>
          </a:p>
          <a:p>
            <a:r>
              <a:rPr lang="en-US" altLang="zh-CN" sz="1600" b="0" i="0" dirty="0" smtClean="0">
                <a:solidFill>
                  <a:srgbClr val="000000"/>
                </a:solidFill>
                <a:effectLst/>
                <a:latin typeface="微软雅黑"/>
              </a:rPr>
              <a:t>2</a:t>
            </a:r>
            <a:r>
              <a:rPr lang="zh-CN" altLang="en-US" sz="1600" b="0" i="0" dirty="0" smtClean="0">
                <a:solidFill>
                  <a:srgbClr val="000000"/>
                </a:solidFill>
                <a:effectLst/>
                <a:latin typeface="微软雅黑"/>
              </a:rPr>
              <a:t>．境外院校应届毕业生，应为</a:t>
            </a:r>
            <a:r>
              <a:rPr lang="en-US" altLang="zh-CN" sz="1600" b="0" i="0" dirty="0" smtClean="0">
                <a:solidFill>
                  <a:srgbClr val="000000"/>
                </a:solidFill>
                <a:effectLst/>
                <a:latin typeface="微软雅黑"/>
              </a:rPr>
              <a:t>2026</a:t>
            </a:r>
            <a:r>
              <a:rPr lang="zh-CN" altLang="en-US" sz="1600" b="0" i="0" dirty="0" smtClean="0">
                <a:solidFill>
                  <a:srgbClr val="000000"/>
                </a:solidFill>
                <a:effectLst/>
                <a:latin typeface="微软雅黑"/>
              </a:rPr>
              <a:t>年</a:t>
            </a:r>
            <a:r>
              <a:rPr lang="en-US" altLang="zh-CN" sz="1600" b="0" i="0" dirty="0" smtClean="0">
                <a:solidFill>
                  <a:srgbClr val="000000"/>
                </a:solidFill>
                <a:effectLst/>
                <a:latin typeface="微软雅黑"/>
              </a:rPr>
              <a:t>1</a:t>
            </a:r>
            <a:r>
              <a:rPr lang="zh-CN" altLang="en-US" sz="1600" b="0" i="0" dirty="0" smtClean="0">
                <a:solidFill>
                  <a:srgbClr val="000000"/>
                </a:solidFill>
                <a:effectLst/>
                <a:latin typeface="微软雅黑"/>
              </a:rPr>
              <a:t>月</a:t>
            </a:r>
            <a:r>
              <a:rPr lang="en-US" altLang="zh-CN" sz="1600" b="0" i="0" dirty="0" smtClean="0">
                <a:solidFill>
                  <a:srgbClr val="000000"/>
                </a:solidFill>
                <a:effectLst/>
                <a:latin typeface="微软雅黑"/>
              </a:rPr>
              <a:t>1</a:t>
            </a:r>
            <a:r>
              <a:rPr lang="zh-CN" altLang="en-US" sz="1600" b="0" i="0" dirty="0" smtClean="0">
                <a:solidFill>
                  <a:srgbClr val="000000"/>
                </a:solidFill>
                <a:effectLst/>
                <a:latin typeface="微软雅黑"/>
              </a:rPr>
              <a:t>日至</a:t>
            </a:r>
            <a:r>
              <a:rPr lang="en-US" altLang="zh-CN" sz="1600" b="0" i="0" dirty="0" smtClean="0">
                <a:solidFill>
                  <a:srgbClr val="000000"/>
                </a:solidFill>
                <a:effectLst/>
                <a:latin typeface="微软雅黑"/>
              </a:rPr>
              <a:t>2027</a:t>
            </a:r>
            <a:r>
              <a:rPr lang="zh-CN" altLang="en-US" sz="1600" b="0" i="0" dirty="0" smtClean="0">
                <a:solidFill>
                  <a:srgbClr val="000000"/>
                </a:solidFill>
                <a:effectLst/>
                <a:latin typeface="微软雅黑"/>
              </a:rPr>
              <a:t>年</a:t>
            </a:r>
            <a:r>
              <a:rPr lang="en-US" altLang="zh-CN" sz="1600" b="0" i="0" dirty="0" smtClean="0">
                <a:solidFill>
                  <a:srgbClr val="000000"/>
                </a:solidFill>
                <a:effectLst/>
                <a:latin typeface="微软雅黑"/>
              </a:rPr>
              <a:t>7</a:t>
            </a:r>
            <a:r>
              <a:rPr lang="zh-CN" altLang="en-US" sz="1600" b="0" i="0" dirty="0" smtClean="0">
                <a:solidFill>
                  <a:srgbClr val="000000"/>
                </a:solidFill>
                <a:effectLst/>
                <a:latin typeface="微软雅黑"/>
              </a:rPr>
              <a:t>月</a:t>
            </a:r>
            <a:r>
              <a:rPr lang="en-US" altLang="zh-CN" sz="1600" b="0" i="0" dirty="0" smtClean="0">
                <a:solidFill>
                  <a:srgbClr val="000000"/>
                </a:solidFill>
                <a:effectLst/>
                <a:latin typeface="微软雅黑"/>
              </a:rPr>
              <a:t>31</a:t>
            </a:r>
            <a:r>
              <a:rPr lang="zh-CN" altLang="en-US" sz="1600" b="0" i="0" dirty="0" smtClean="0">
                <a:solidFill>
                  <a:srgbClr val="000000"/>
                </a:solidFill>
                <a:effectLst/>
                <a:latin typeface="微软雅黑"/>
              </a:rPr>
              <a:t>日期间毕业且为毕业后初次就业，并能够在</a:t>
            </a:r>
            <a:r>
              <a:rPr lang="en-US" altLang="zh-CN" sz="1600" b="0" i="0" dirty="0" smtClean="0">
                <a:solidFill>
                  <a:srgbClr val="000000"/>
                </a:solidFill>
                <a:effectLst/>
                <a:latin typeface="微软雅黑"/>
              </a:rPr>
              <a:t>2027</a:t>
            </a:r>
            <a:r>
              <a:rPr lang="zh-CN" altLang="en-US" sz="1600" b="0" i="0" dirty="0" smtClean="0">
                <a:solidFill>
                  <a:srgbClr val="000000"/>
                </a:solidFill>
                <a:effectLst/>
                <a:latin typeface="微软雅黑"/>
              </a:rPr>
              <a:t>年</a:t>
            </a:r>
            <a:r>
              <a:rPr lang="en-US" altLang="zh-CN" sz="1600" b="0" i="0" dirty="0" smtClean="0">
                <a:solidFill>
                  <a:srgbClr val="000000"/>
                </a:solidFill>
                <a:effectLst/>
                <a:latin typeface="微软雅黑"/>
              </a:rPr>
              <a:t>7</a:t>
            </a:r>
            <a:r>
              <a:rPr lang="zh-CN" altLang="en-US" sz="1600" b="0" i="0" dirty="0" smtClean="0">
                <a:solidFill>
                  <a:srgbClr val="000000"/>
                </a:solidFill>
                <a:effectLst/>
                <a:latin typeface="微软雅黑"/>
              </a:rPr>
              <a:t>月</a:t>
            </a:r>
            <a:r>
              <a:rPr lang="en-US" altLang="zh-CN" sz="1600" b="0" i="0" dirty="0" smtClean="0">
                <a:solidFill>
                  <a:srgbClr val="000000"/>
                </a:solidFill>
                <a:effectLst/>
                <a:latin typeface="微软雅黑"/>
              </a:rPr>
              <a:t>31</a:t>
            </a:r>
            <a:r>
              <a:rPr lang="zh-CN" altLang="en-US" sz="1600" b="0" i="0" dirty="0" smtClean="0">
                <a:solidFill>
                  <a:srgbClr val="000000"/>
                </a:solidFill>
                <a:effectLst/>
                <a:latin typeface="微软雅黑"/>
              </a:rPr>
              <a:t>日前获得学历（学位）证书原件，可开始全职工作。入职前应取得国家教育部留学服务中心出具的学历学位认证</a:t>
            </a:r>
          </a:p>
          <a:p>
            <a:endParaRPr lang="zh-CN" altLang="en-US" dirty="0"/>
          </a:p>
        </p:txBody>
      </p:sp>
    </p:spTree>
    <p:extLst>
      <p:ext uri="{BB962C8B-B14F-4D97-AF65-F5344CB8AC3E}">
        <p14:creationId xmlns:p14="http://schemas.microsoft.com/office/powerpoint/2010/main" val="3622795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中国建设银行</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hlinkClick r:id="rId2"/>
              </a:rPr>
              <a:t>中国建设银行</a:t>
            </a:r>
            <a:r>
              <a:rPr lang="en-US" altLang="zh-CN" dirty="0" smtClean="0">
                <a:hlinkClick r:id="rId2"/>
              </a:rPr>
              <a:t>—</a:t>
            </a:r>
            <a:r>
              <a:rPr lang="zh-CN" altLang="en-US" dirty="0" smtClean="0">
                <a:hlinkClick r:id="rId2"/>
              </a:rPr>
              <a:t>招聘 </a:t>
            </a:r>
            <a:r>
              <a:rPr lang="en-US" altLang="zh-CN" dirty="0" smtClean="0">
                <a:hlinkClick r:id="rId2"/>
              </a:rPr>
              <a:t>(ccb.com)</a:t>
            </a:r>
            <a:endParaRPr lang="en-US" altLang="zh-CN" dirty="0" smtClean="0"/>
          </a:p>
          <a:p>
            <a:pPr algn="just"/>
            <a:r>
              <a:rPr lang="zh-CN" altLang="en-US" sz="2400" b="0" i="0" dirty="0" smtClean="0">
                <a:solidFill>
                  <a:srgbClr val="666666"/>
                </a:solidFill>
                <a:effectLst/>
                <a:latin typeface="宋体"/>
              </a:rPr>
              <a:t>应聘者须为具有境内外普通高等院校硕士研究生及以上学历的</a:t>
            </a:r>
            <a:r>
              <a:rPr lang="en-US" altLang="zh-CN" sz="2400" b="0" i="0" dirty="0" smtClean="0">
                <a:solidFill>
                  <a:srgbClr val="666666"/>
                </a:solidFill>
                <a:effectLst/>
                <a:latin typeface="宋体"/>
              </a:rPr>
              <a:t>2027</a:t>
            </a:r>
            <a:r>
              <a:rPr lang="zh-CN" altLang="en-US" sz="2400" b="0" i="0" dirty="0" smtClean="0">
                <a:solidFill>
                  <a:srgbClr val="666666"/>
                </a:solidFill>
                <a:effectLst/>
                <a:latin typeface="宋体"/>
              </a:rPr>
              <a:t>年应届毕业生。</a:t>
            </a:r>
            <a:endParaRPr lang="zh-CN" altLang="en-US" sz="2400" b="0" i="0" dirty="0" smtClean="0">
              <a:solidFill>
                <a:srgbClr val="666666"/>
              </a:solidFill>
              <a:effectLst/>
              <a:latin typeface="Arial"/>
            </a:endParaRPr>
          </a:p>
          <a:p>
            <a:pPr algn="just"/>
            <a:r>
              <a:rPr lang="zh-CN" altLang="en-US" sz="2400" b="0" i="0" dirty="0" smtClean="0">
                <a:solidFill>
                  <a:srgbClr val="666666"/>
                </a:solidFill>
                <a:effectLst/>
                <a:latin typeface="宋体"/>
              </a:rPr>
              <a:t>境内院校应届毕业生须在</a:t>
            </a:r>
            <a:r>
              <a:rPr lang="en-US" altLang="zh-CN" sz="2400" b="0" i="0" dirty="0" smtClean="0">
                <a:solidFill>
                  <a:srgbClr val="666666"/>
                </a:solidFill>
                <a:effectLst/>
                <a:latin typeface="宋体"/>
              </a:rPr>
              <a:t>2027</a:t>
            </a:r>
            <a:r>
              <a:rPr lang="zh-CN" altLang="en-US" sz="2400" b="0" i="0" dirty="0" smtClean="0">
                <a:solidFill>
                  <a:srgbClr val="666666"/>
                </a:solidFill>
                <a:effectLst/>
                <a:latin typeface="宋体"/>
              </a:rPr>
              <a:t>年</a:t>
            </a:r>
            <a:r>
              <a:rPr lang="en-US" altLang="zh-CN" sz="2400" b="0" i="0" dirty="0" smtClean="0">
                <a:solidFill>
                  <a:srgbClr val="666666"/>
                </a:solidFill>
                <a:effectLst/>
                <a:latin typeface="宋体"/>
              </a:rPr>
              <a:t>1</a:t>
            </a:r>
            <a:r>
              <a:rPr lang="zh-CN" altLang="en-US" sz="2400" b="0" i="0" dirty="0" smtClean="0">
                <a:solidFill>
                  <a:srgbClr val="666666"/>
                </a:solidFill>
                <a:effectLst/>
                <a:latin typeface="宋体"/>
              </a:rPr>
              <a:t>月至</a:t>
            </a:r>
            <a:r>
              <a:rPr lang="en-US" altLang="zh-CN" sz="2400" b="0" i="0" dirty="0" smtClean="0">
                <a:solidFill>
                  <a:srgbClr val="666666"/>
                </a:solidFill>
                <a:effectLst/>
                <a:latin typeface="宋体"/>
              </a:rPr>
              <a:t>7</a:t>
            </a:r>
            <a:r>
              <a:rPr lang="zh-CN" altLang="en-US" sz="2400" b="0" i="0" dirty="0" smtClean="0">
                <a:solidFill>
                  <a:srgbClr val="666666"/>
                </a:solidFill>
                <a:effectLst/>
                <a:latin typeface="宋体"/>
              </a:rPr>
              <a:t>月之间毕业，报到时取得国家认可的毕业证和学位证（包括在择业期内可视同应届毕业生办理就业手续的）；境外院校归国留学生须在</a:t>
            </a:r>
            <a:r>
              <a:rPr lang="en-US" altLang="zh-CN" sz="2400" b="0" i="0" dirty="0" smtClean="0">
                <a:solidFill>
                  <a:srgbClr val="666666"/>
                </a:solidFill>
                <a:effectLst/>
                <a:latin typeface="宋体"/>
              </a:rPr>
              <a:t>2026</a:t>
            </a:r>
            <a:r>
              <a:rPr lang="zh-CN" altLang="en-US" sz="2400" b="0" i="0" dirty="0" smtClean="0">
                <a:solidFill>
                  <a:srgbClr val="666666"/>
                </a:solidFill>
                <a:effectLst/>
                <a:latin typeface="宋体"/>
              </a:rPr>
              <a:t>年</a:t>
            </a:r>
            <a:r>
              <a:rPr lang="en-US" altLang="zh-CN" sz="2400" b="0" i="0" dirty="0" smtClean="0">
                <a:solidFill>
                  <a:srgbClr val="666666"/>
                </a:solidFill>
                <a:effectLst/>
                <a:latin typeface="宋体"/>
              </a:rPr>
              <a:t>1</a:t>
            </a:r>
            <a:r>
              <a:rPr lang="zh-CN" altLang="en-US" sz="2400" b="0" i="0" dirty="0" smtClean="0">
                <a:solidFill>
                  <a:srgbClr val="666666"/>
                </a:solidFill>
                <a:effectLst/>
                <a:latin typeface="宋体"/>
              </a:rPr>
              <a:t>月至</a:t>
            </a:r>
            <a:r>
              <a:rPr lang="en-US" altLang="zh-CN" sz="2400" b="0" i="0" dirty="0" smtClean="0">
                <a:solidFill>
                  <a:srgbClr val="666666"/>
                </a:solidFill>
                <a:effectLst/>
                <a:latin typeface="宋体"/>
              </a:rPr>
              <a:t>2027</a:t>
            </a:r>
            <a:r>
              <a:rPr lang="zh-CN" altLang="en-US" sz="2400" b="0" i="0" dirty="0" smtClean="0">
                <a:solidFill>
                  <a:srgbClr val="666666"/>
                </a:solidFill>
                <a:effectLst/>
                <a:latin typeface="宋体"/>
              </a:rPr>
              <a:t>年</a:t>
            </a:r>
            <a:r>
              <a:rPr lang="en-US" altLang="zh-CN" sz="2400" b="0" i="0" dirty="0" smtClean="0">
                <a:solidFill>
                  <a:srgbClr val="666666"/>
                </a:solidFill>
                <a:effectLst/>
                <a:latin typeface="宋体"/>
              </a:rPr>
              <a:t>7</a:t>
            </a:r>
            <a:r>
              <a:rPr lang="zh-CN" altLang="en-US" sz="2400" b="0" i="0" dirty="0" smtClean="0">
                <a:solidFill>
                  <a:srgbClr val="666666"/>
                </a:solidFill>
                <a:effectLst/>
                <a:latin typeface="宋体"/>
              </a:rPr>
              <a:t>月之间毕业，报到时取得学历（学位）证书，以及国家教育部留学服务中心出具的国外学历学位认证书。</a:t>
            </a:r>
            <a:endParaRPr lang="zh-CN" altLang="en-US" sz="2400" b="0" i="0" dirty="0" smtClean="0">
              <a:solidFill>
                <a:srgbClr val="666666"/>
              </a:solidFill>
              <a:effectLst/>
              <a:latin typeface="Arial"/>
            </a:endParaRPr>
          </a:p>
          <a:p>
            <a:r>
              <a:rPr lang="zh-CN" altLang="en-US" b="0" i="0" dirty="0" smtClean="0">
                <a:solidFill>
                  <a:srgbClr val="666666"/>
                </a:solidFill>
                <a:effectLst/>
                <a:latin typeface="宋体"/>
              </a:rPr>
              <a:t>报名截止时间为</a:t>
            </a:r>
            <a:r>
              <a:rPr lang="en-US" altLang="zh-CN" b="1" i="0" dirty="0" smtClean="0">
                <a:solidFill>
                  <a:srgbClr val="666666"/>
                </a:solidFill>
                <a:effectLst/>
                <a:latin typeface="宋体"/>
              </a:rPr>
              <a:t>2026</a:t>
            </a:r>
            <a:r>
              <a:rPr lang="zh-CN" altLang="en-US" b="1" i="0" dirty="0" smtClean="0">
                <a:solidFill>
                  <a:srgbClr val="666666"/>
                </a:solidFill>
                <a:effectLst/>
                <a:latin typeface="宋体"/>
              </a:rPr>
              <a:t>年</a:t>
            </a:r>
            <a:r>
              <a:rPr lang="en-US" altLang="zh-CN" b="1" i="0" dirty="0" smtClean="0">
                <a:solidFill>
                  <a:srgbClr val="666666"/>
                </a:solidFill>
                <a:effectLst/>
                <a:latin typeface="宋体"/>
              </a:rPr>
              <a:t>10</a:t>
            </a:r>
            <a:r>
              <a:rPr lang="zh-CN" altLang="en-US" b="1" i="0" dirty="0" smtClean="0">
                <a:solidFill>
                  <a:srgbClr val="666666"/>
                </a:solidFill>
                <a:effectLst/>
                <a:latin typeface="宋体"/>
              </a:rPr>
              <a:t>月</a:t>
            </a:r>
            <a:r>
              <a:rPr lang="en-US" altLang="zh-CN" b="1" i="0" dirty="0" smtClean="0">
                <a:solidFill>
                  <a:srgbClr val="666666"/>
                </a:solidFill>
                <a:effectLst/>
                <a:latin typeface="宋体"/>
              </a:rPr>
              <a:t>8</a:t>
            </a:r>
            <a:r>
              <a:rPr lang="zh-CN" altLang="en-US" b="1" i="0" dirty="0" smtClean="0">
                <a:solidFill>
                  <a:srgbClr val="666666"/>
                </a:solidFill>
                <a:effectLst/>
                <a:latin typeface="宋体"/>
              </a:rPr>
              <a:t>日</a:t>
            </a:r>
            <a:r>
              <a:rPr lang="en-US" altLang="zh-CN" b="1" i="0" dirty="0" smtClean="0">
                <a:solidFill>
                  <a:srgbClr val="666666"/>
                </a:solidFill>
                <a:effectLst/>
                <a:latin typeface="宋体"/>
              </a:rPr>
              <a:t>24</a:t>
            </a:r>
            <a:r>
              <a:rPr lang="zh-CN" altLang="en-US" b="1" i="0" dirty="0" smtClean="0">
                <a:solidFill>
                  <a:srgbClr val="666666"/>
                </a:solidFill>
                <a:effectLst/>
                <a:latin typeface="宋体"/>
              </a:rPr>
              <a:t>点（北京时间）</a:t>
            </a:r>
            <a:endParaRPr lang="zh-CN" altLang="en-US" dirty="0"/>
          </a:p>
        </p:txBody>
      </p:sp>
    </p:spTree>
    <p:extLst>
      <p:ext uri="{BB962C8B-B14F-4D97-AF65-F5344CB8AC3E}">
        <p14:creationId xmlns:p14="http://schemas.microsoft.com/office/powerpoint/2010/main" val="2249738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hlinkClick r:id="rId2"/>
              </a:rPr>
              <a:t>招商局集团</a:t>
            </a:r>
            <a:endParaRPr lang="zh-CN" altLang="en-US" dirty="0"/>
          </a:p>
        </p:txBody>
      </p:sp>
      <p:sp>
        <p:nvSpPr>
          <p:cNvPr id="3" name="内容占位符 2"/>
          <p:cNvSpPr>
            <a:spLocks noGrp="1"/>
          </p:cNvSpPr>
          <p:nvPr>
            <p:ph idx="1"/>
          </p:nvPr>
        </p:nvSpPr>
        <p:spPr/>
        <p:txBody>
          <a:bodyPr/>
          <a:lstStyle/>
          <a:p>
            <a:r>
              <a:rPr lang="zh-CN" altLang="en-US" dirty="0" smtClean="0">
                <a:hlinkClick r:id="rId2"/>
              </a:rPr>
              <a:t>招商局集团招聘官网 </a:t>
            </a:r>
            <a:r>
              <a:rPr lang="en-US" altLang="zh-CN" dirty="0" smtClean="0">
                <a:hlinkClick r:id="rId2"/>
              </a:rPr>
              <a:t>(zhiye.com)</a:t>
            </a:r>
            <a:endParaRPr lang="en-US" altLang="zh-CN" dirty="0" smtClean="0"/>
          </a:p>
          <a:p>
            <a:r>
              <a:rPr lang="zh-CN" altLang="en-US" dirty="0"/>
              <a:t>（二）本科及以上学历毕业生：境内院校最高学历毕业时间为</a:t>
            </a:r>
            <a:r>
              <a:rPr lang="en-US" altLang="zh-CN" dirty="0"/>
              <a:t>2027</a:t>
            </a:r>
            <a:r>
              <a:rPr lang="zh-CN" altLang="en-US" dirty="0"/>
              <a:t>年</a:t>
            </a:r>
            <a:r>
              <a:rPr lang="en-US" altLang="zh-CN" dirty="0"/>
              <a:t>1</a:t>
            </a:r>
            <a:r>
              <a:rPr lang="zh-CN" altLang="en-US" dirty="0"/>
              <a:t>月</a:t>
            </a:r>
            <a:r>
              <a:rPr lang="en-US" altLang="zh-CN" dirty="0"/>
              <a:t>1</a:t>
            </a:r>
            <a:r>
              <a:rPr lang="zh-CN" altLang="en-US" dirty="0"/>
              <a:t>日至</a:t>
            </a:r>
            <a:r>
              <a:rPr lang="en-US" altLang="zh-CN" dirty="0"/>
              <a:t>2027</a:t>
            </a:r>
            <a:r>
              <a:rPr lang="zh-CN" altLang="en-US" dirty="0"/>
              <a:t>年</a:t>
            </a:r>
            <a:r>
              <a:rPr lang="en-US" altLang="zh-CN" dirty="0"/>
              <a:t>7</a:t>
            </a:r>
            <a:r>
              <a:rPr lang="zh-CN" altLang="en-US" dirty="0"/>
              <a:t>月</a:t>
            </a:r>
            <a:r>
              <a:rPr lang="en-US" altLang="zh-CN" dirty="0"/>
              <a:t>31</a:t>
            </a:r>
            <a:r>
              <a:rPr lang="zh-CN" altLang="en-US" dirty="0"/>
              <a:t>日，境外院校最高学历毕业时间为</a:t>
            </a:r>
            <a:r>
              <a:rPr lang="en-US" altLang="zh-CN" dirty="0"/>
              <a:t>2026</a:t>
            </a:r>
            <a:r>
              <a:rPr lang="zh-CN" altLang="en-US" dirty="0"/>
              <a:t>年</a:t>
            </a:r>
            <a:r>
              <a:rPr lang="en-US" altLang="zh-CN" dirty="0"/>
              <a:t>1</a:t>
            </a:r>
            <a:r>
              <a:rPr lang="zh-CN" altLang="en-US" dirty="0"/>
              <a:t>月</a:t>
            </a:r>
            <a:r>
              <a:rPr lang="en-US" altLang="zh-CN" dirty="0"/>
              <a:t>1</a:t>
            </a:r>
            <a:r>
              <a:rPr lang="zh-CN" altLang="en-US" dirty="0"/>
              <a:t>日至</a:t>
            </a:r>
            <a:r>
              <a:rPr lang="en-US" altLang="zh-CN" dirty="0"/>
              <a:t>2027</a:t>
            </a:r>
            <a:r>
              <a:rPr lang="zh-CN" altLang="en-US" dirty="0"/>
              <a:t>年</a:t>
            </a:r>
            <a:r>
              <a:rPr lang="en-US" altLang="zh-CN" dirty="0"/>
              <a:t>7</a:t>
            </a:r>
            <a:r>
              <a:rPr lang="zh-CN" altLang="en-US" dirty="0"/>
              <a:t>月</a:t>
            </a:r>
            <a:r>
              <a:rPr lang="en-US" altLang="zh-CN" dirty="0"/>
              <a:t>31</a:t>
            </a:r>
            <a:r>
              <a:rPr lang="zh-CN" altLang="en-US" dirty="0"/>
              <a:t>日</a:t>
            </a:r>
            <a:r>
              <a:rPr lang="zh-CN" altLang="en-US" dirty="0" smtClean="0"/>
              <a:t>。</a:t>
            </a:r>
            <a:endParaRPr lang="en-US" altLang="zh-CN" dirty="0" smtClean="0"/>
          </a:p>
          <a:p>
            <a:r>
              <a:rPr lang="zh-CN" altLang="en-US" dirty="0" smtClean="0"/>
              <a:t>网申：即日起</a:t>
            </a:r>
            <a:r>
              <a:rPr lang="en-US" altLang="zh-CN" dirty="0" smtClean="0"/>
              <a:t>‑10‑10</a:t>
            </a:r>
            <a:endParaRPr lang="zh-CN" altLang="en-US" dirty="0"/>
          </a:p>
        </p:txBody>
      </p:sp>
    </p:spTree>
    <p:extLst>
      <p:ext uri="{BB962C8B-B14F-4D97-AF65-F5344CB8AC3E}">
        <p14:creationId xmlns:p14="http://schemas.microsoft.com/office/powerpoint/2010/main" val="1518434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中信集团</a:t>
            </a:r>
            <a:endParaRPr lang="zh-CN" altLang="en-US" dirty="0"/>
          </a:p>
        </p:txBody>
      </p:sp>
      <p:sp>
        <p:nvSpPr>
          <p:cNvPr id="3" name="内容占位符 2"/>
          <p:cNvSpPr>
            <a:spLocks noGrp="1"/>
          </p:cNvSpPr>
          <p:nvPr>
            <p:ph idx="1"/>
          </p:nvPr>
        </p:nvSpPr>
        <p:spPr/>
        <p:txBody>
          <a:bodyPr/>
          <a:lstStyle/>
          <a:p>
            <a:r>
              <a:rPr lang="zh-CN" altLang="en-US" dirty="0" smtClean="0">
                <a:hlinkClick r:id="rId2"/>
              </a:rPr>
              <a:t>中信集团人才招聘系统 </a:t>
            </a:r>
            <a:r>
              <a:rPr lang="en-US" altLang="zh-CN" dirty="0" smtClean="0">
                <a:hlinkClick r:id="rId2"/>
              </a:rPr>
              <a:t>(citic.com)</a:t>
            </a:r>
            <a:endParaRPr lang="en-US" altLang="zh-CN" dirty="0" smtClean="0"/>
          </a:p>
          <a:p>
            <a:endParaRPr lang="en-US" altLang="zh-CN" dirty="0"/>
          </a:p>
          <a:p>
            <a:r>
              <a:rPr lang="zh-CN" altLang="en-US" dirty="0" smtClean="0"/>
              <a:t>境外留学生：</a:t>
            </a:r>
            <a:r>
              <a:rPr lang="en-US" altLang="zh-CN" b="1" dirty="0" smtClean="0"/>
              <a:t>2026‑01 ~ 2027‑07 </a:t>
            </a:r>
            <a:r>
              <a:rPr lang="zh-CN" altLang="en-US" b="1" dirty="0" smtClean="0"/>
              <a:t>毕业</a:t>
            </a:r>
            <a:r>
              <a:rPr lang="zh-CN" altLang="en-US" dirty="0" smtClean="0"/>
              <a:t>，硕士及以上，初次就业，入职前取得留服认证</a:t>
            </a:r>
            <a:endParaRPr lang="en-US" altLang="zh-CN" dirty="0" smtClean="0"/>
          </a:p>
          <a:p>
            <a:endParaRPr lang="en-US" altLang="zh-CN" dirty="0" smtClean="0"/>
          </a:p>
          <a:p>
            <a:r>
              <a:rPr lang="zh-CN" altLang="en-US" dirty="0" smtClean="0"/>
              <a:t>截止时间：</a:t>
            </a:r>
            <a:r>
              <a:rPr lang="en-US" altLang="zh-CN" dirty="0" smtClean="0"/>
              <a:t>2026‑10‑08</a:t>
            </a:r>
            <a:endParaRPr lang="zh-CN" altLang="en-US" dirty="0"/>
          </a:p>
        </p:txBody>
      </p:sp>
    </p:spTree>
    <p:extLst>
      <p:ext uri="{BB962C8B-B14F-4D97-AF65-F5344CB8AC3E}">
        <p14:creationId xmlns:p14="http://schemas.microsoft.com/office/powerpoint/2010/main" val="3052543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i="0" dirty="0" smtClean="0">
                <a:solidFill>
                  <a:srgbClr val="000000"/>
                </a:solidFill>
                <a:effectLst/>
                <a:latin typeface="Microsoft YaHei"/>
              </a:rPr>
              <a:t>　上交所技术有限责任公司</a:t>
            </a:r>
            <a:endParaRPr lang="zh-CN" altLang="en-US" dirty="0"/>
          </a:p>
        </p:txBody>
      </p:sp>
      <p:sp>
        <p:nvSpPr>
          <p:cNvPr id="3" name="内容占位符 2"/>
          <p:cNvSpPr>
            <a:spLocks noGrp="1"/>
          </p:cNvSpPr>
          <p:nvPr>
            <p:ph idx="1"/>
          </p:nvPr>
        </p:nvSpPr>
        <p:spPr/>
        <p:txBody>
          <a:bodyPr>
            <a:normAutofit/>
          </a:bodyPr>
          <a:lstStyle/>
          <a:p>
            <a:r>
              <a:rPr lang="zh-CN" altLang="en-US" dirty="0" smtClean="0">
                <a:hlinkClick r:id="rId2"/>
              </a:rPr>
              <a:t>上交所技术有限责任公司</a:t>
            </a:r>
            <a:r>
              <a:rPr lang="en-US" altLang="zh-CN" dirty="0" smtClean="0">
                <a:hlinkClick r:id="rId2"/>
              </a:rPr>
              <a:t>2026</a:t>
            </a:r>
            <a:r>
              <a:rPr lang="zh-CN" altLang="en-US" dirty="0" smtClean="0">
                <a:hlinkClick r:id="rId2"/>
              </a:rPr>
              <a:t>年招聘 </a:t>
            </a:r>
            <a:r>
              <a:rPr lang="en-US" altLang="zh-CN" dirty="0" smtClean="0">
                <a:hlinkClick r:id="rId2"/>
              </a:rPr>
              <a:t>(zhaopin.com)</a:t>
            </a:r>
            <a:endParaRPr lang="en-US" altLang="zh-CN" dirty="0" smtClean="0"/>
          </a:p>
          <a:p>
            <a:r>
              <a:rPr lang="zh-CN" altLang="en-US" sz="2400" dirty="0" smtClean="0"/>
              <a:t>招聘</a:t>
            </a:r>
            <a:r>
              <a:rPr lang="zh-CN" altLang="en-US" sz="2400" dirty="0"/>
              <a:t>对象为</a:t>
            </a:r>
            <a:r>
              <a:rPr lang="en-US" altLang="zh-CN" sz="2400" dirty="0"/>
              <a:t>2027</a:t>
            </a:r>
            <a:r>
              <a:rPr lang="zh-CN" altLang="en-US" sz="2400" dirty="0"/>
              <a:t>届境内外院校应届毕业生，及尚未就业仍处于择业期的</a:t>
            </a:r>
            <a:r>
              <a:rPr lang="en-US" altLang="zh-CN" sz="2400" dirty="0"/>
              <a:t>2026</a:t>
            </a:r>
            <a:r>
              <a:rPr lang="zh-CN" altLang="en-US" sz="2400" dirty="0"/>
              <a:t>届境内外院校应届毕业生。毕业时间一般为</a:t>
            </a:r>
            <a:r>
              <a:rPr lang="en-US" altLang="zh-CN" sz="2400" dirty="0"/>
              <a:t>2026</a:t>
            </a:r>
            <a:r>
              <a:rPr lang="zh-CN" altLang="en-US" sz="2400" dirty="0"/>
              <a:t>年</a:t>
            </a:r>
            <a:r>
              <a:rPr lang="en-US" altLang="zh-CN" sz="2400" dirty="0"/>
              <a:t>1</a:t>
            </a:r>
            <a:r>
              <a:rPr lang="zh-CN" altLang="en-US" sz="2400" dirty="0"/>
              <a:t>月</a:t>
            </a:r>
            <a:r>
              <a:rPr lang="en-US" altLang="zh-CN" sz="2400" dirty="0"/>
              <a:t>1</a:t>
            </a:r>
            <a:r>
              <a:rPr lang="zh-CN" altLang="en-US" sz="2400" dirty="0"/>
              <a:t>日至</a:t>
            </a:r>
            <a:r>
              <a:rPr lang="en-US" altLang="zh-CN" sz="2400" dirty="0"/>
              <a:t>2027</a:t>
            </a:r>
            <a:r>
              <a:rPr lang="zh-CN" altLang="en-US" sz="2400" dirty="0"/>
              <a:t>年</a:t>
            </a:r>
            <a:r>
              <a:rPr lang="en-US" altLang="zh-CN" sz="2400" dirty="0"/>
              <a:t>7</a:t>
            </a:r>
            <a:r>
              <a:rPr lang="zh-CN" altLang="en-US" sz="2400" dirty="0"/>
              <a:t>月</a:t>
            </a:r>
            <a:r>
              <a:rPr lang="en-US" altLang="zh-CN" sz="2400" dirty="0"/>
              <a:t>31</a:t>
            </a:r>
            <a:r>
              <a:rPr lang="zh-CN" altLang="en-US" sz="2400" dirty="0"/>
              <a:t>日，报到时应取得相应学历学位证书，境外院校毕业生还应取得教育部留学服务中心</a:t>
            </a:r>
            <a:r>
              <a:rPr lang="zh-CN" altLang="en-US" sz="2400" dirty="0" smtClean="0"/>
              <a:t>出具的</a:t>
            </a:r>
            <a:r>
              <a:rPr lang="zh-CN" altLang="en-US" sz="2400" dirty="0"/>
              <a:t>学历学位认证</a:t>
            </a:r>
            <a:r>
              <a:rPr lang="zh-CN" altLang="en-US" sz="2400" dirty="0" smtClean="0"/>
              <a:t>；</a:t>
            </a:r>
            <a:endParaRPr lang="en-US" altLang="zh-CN" sz="2400" dirty="0" smtClean="0"/>
          </a:p>
          <a:p>
            <a:r>
              <a:rPr lang="zh-CN" altLang="en-US" sz="2400" dirty="0" smtClean="0"/>
              <a:t>截止时间：</a:t>
            </a:r>
            <a:r>
              <a:rPr lang="en-US" altLang="zh-CN" sz="2400" dirty="0" smtClean="0"/>
              <a:t>2026‑10‑08</a:t>
            </a:r>
            <a:endParaRPr lang="zh-CN" altLang="en-US" sz="2400" dirty="0" smtClean="0"/>
          </a:p>
          <a:p>
            <a:endParaRPr lang="en-US" altLang="zh-CN" sz="2400" dirty="0" smtClean="0"/>
          </a:p>
          <a:p>
            <a:endParaRPr lang="zh-CN" altLang="en-US" sz="2400" dirty="0"/>
          </a:p>
        </p:txBody>
      </p:sp>
    </p:spTree>
    <p:extLst>
      <p:ext uri="{BB962C8B-B14F-4D97-AF65-F5344CB8AC3E}">
        <p14:creationId xmlns:p14="http://schemas.microsoft.com/office/powerpoint/2010/main" val="3428964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浦发银行</a:t>
            </a:r>
            <a:endParaRPr lang="zh-CN" altLang="en-US" dirty="0"/>
          </a:p>
        </p:txBody>
      </p:sp>
      <p:sp>
        <p:nvSpPr>
          <p:cNvPr id="3" name="内容占位符 2"/>
          <p:cNvSpPr>
            <a:spLocks noGrp="1"/>
          </p:cNvSpPr>
          <p:nvPr>
            <p:ph idx="1"/>
          </p:nvPr>
        </p:nvSpPr>
        <p:spPr/>
        <p:txBody>
          <a:bodyPr>
            <a:normAutofit/>
          </a:bodyPr>
          <a:lstStyle/>
          <a:p>
            <a:endParaRPr lang="en-US" altLang="zh-CN" dirty="0" smtClean="0"/>
          </a:p>
          <a:p>
            <a:r>
              <a:rPr lang="zh-CN" altLang="en-US" dirty="0" smtClean="0">
                <a:hlinkClick r:id="rId2"/>
              </a:rPr>
              <a:t>浦发招聘 </a:t>
            </a:r>
            <a:r>
              <a:rPr lang="en-US" altLang="zh-CN" dirty="0" smtClean="0">
                <a:hlinkClick r:id="rId2"/>
              </a:rPr>
              <a:t>(spdb.com.cn)</a:t>
            </a:r>
            <a:endParaRPr lang="en-US" altLang="zh-CN" dirty="0"/>
          </a:p>
          <a:p>
            <a:endParaRPr lang="en-US" altLang="zh-CN" dirty="0" smtClean="0"/>
          </a:p>
          <a:p>
            <a:pPr lvl="0"/>
            <a:r>
              <a:rPr lang="zh-CN" altLang="en-US" sz="2400" dirty="0" smtClean="0">
                <a:solidFill>
                  <a:prstClr val="black"/>
                </a:solidFill>
              </a:rPr>
              <a:t>截止</a:t>
            </a:r>
            <a:r>
              <a:rPr lang="zh-CN" altLang="en-US" sz="2400" dirty="0">
                <a:solidFill>
                  <a:prstClr val="black"/>
                </a:solidFill>
              </a:rPr>
              <a:t>时间：</a:t>
            </a:r>
            <a:r>
              <a:rPr lang="en-US" altLang="zh-CN" sz="2400" dirty="0">
                <a:solidFill>
                  <a:prstClr val="black"/>
                </a:solidFill>
              </a:rPr>
              <a:t>2026‑10‑08</a:t>
            </a:r>
            <a:endParaRPr lang="zh-CN" altLang="en-US" sz="2400" dirty="0">
              <a:solidFill>
                <a:prstClr val="black"/>
              </a:solidFill>
            </a:endParaRPr>
          </a:p>
          <a:p>
            <a:r>
              <a:rPr lang="zh-CN" altLang="en-US" dirty="0" smtClean="0"/>
              <a:t>登录</a:t>
            </a:r>
            <a:r>
              <a:rPr lang="zh-CN" altLang="en-US" dirty="0"/>
              <a:t>浦发银行招聘官方网站</a:t>
            </a:r>
            <a:r>
              <a:rPr lang="en-US" altLang="zh-CN" dirty="0"/>
              <a:t>https://job.spdb.com.cn</a:t>
            </a:r>
            <a:r>
              <a:rPr lang="zh-CN" altLang="en-US" dirty="0"/>
              <a:t>，选择“校园招聘”；或通过“遇见浦发”公众号</a:t>
            </a:r>
            <a:r>
              <a:rPr lang="en-US" altLang="zh-CN" dirty="0"/>
              <a:t>-</a:t>
            </a:r>
            <a:r>
              <a:rPr lang="zh-CN" altLang="en-US" dirty="0"/>
              <a:t>走进浦发</a:t>
            </a:r>
            <a:r>
              <a:rPr lang="en-US" altLang="zh-CN" dirty="0"/>
              <a:t>-</a:t>
            </a:r>
            <a:r>
              <a:rPr lang="zh-CN" altLang="en-US" dirty="0"/>
              <a:t>校园招聘，在线注册，投递简历。 </a:t>
            </a:r>
          </a:p>
        </p:txBody>
      </p:sp>
    </p:spTree>
    <p:extLst>
      <p:ext uri="{BB962C8B-B14F-4D97-AF65-F5344CB8AC3E}">
        <p14:creationId xmlns:p14="http://schemas.microsoft.com/office/powerpoint/2010/main" val="2053013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extLst>
      <p:ext uri="{BB962C8B-B14F-4D97-AF65-F5344CB8AC3E}">
        <p14:creationId xmlns:p14="http://schemas.microsoft.com/office/powerpoint/2010/main" val="943353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通用话术</a:t>
            </a:r>
            <a:endParaRPr lang="zh-CN" altLang="en-US" dirty="0"/>
          </a:p>
        </p:txBody>
      </p:sp>
      <p:sp>
        <p:nvSpPr>
          <p:cNvPr id="3" name="内容占位符 2"/>
          <p:cNvSpPr>
            <a:spLocks noGrp="1"/>
          </p:cNvSpPr>
          <p:nvPr>
            <p:ph idx="1"/>
          </p:nvPr>
        </p:nvSpPr>
        <p:spPr/>
        <p:txBody>
          <a:bodyPr>
            <a:normAutofit fontScale="47500" lnSpcReduction="20000"/>
          </a:bodyPr>
          <a:lstStyle/>
          <a:p>
            <a:r>
              <a:rPr lang="zh-CN" altLang="en-US" b="1" dirty="0" smtClean="0"/>
              <a:t>通用必问（银行 </a:t>
            </a:r>
            <a:r>
              <a:rPr lang="en-US" altLang="zh-CN" b="1" dirty="0" smtClean="0"/>
              <a:t>/ </a:t>
            </a:r>
            <a:r>
              <a:rPr lang="zh-CN" altLang="en-US" b="1" dirty="0" smtClean="0"/>
              <a:t>国企 </a:t>
            </a:r>
            <a:r>
              <a:rPr lang="en-US" altLang="zh-CN" b="1" dirty="0" smtClean="0"/>
              <a:t>/ </a:t>
            </a:r>
            <a:r>
              <a:rPr lang="zh-CN" altLang="en-US" b="1" dirty="0" smtClean="0"/>
              <a:t>券商都适用）</a:t>
            </a:r>
          </a:p>
          <a:p>
            <a:pPr>
              <a:buFont typeface="+mj-lt"/>
              <a:buAutoNum type="arabicPeriod"/>
            </a:pPr>
            <a:r>
              <a:rPr lang="zh-CN" altLang="en-US" dirty="0" smtClean="0">
                <a:effectLst/>
              </a:rPr>
              <a:t>请问贵校招 </a:t>
            </a:r>
            <a:r>
              <a:rPr lang="en-US" altLang="zh-CN" dirty="0" smtClean="0">
                <a:effectLst/>
              </a:rPr>
              <a:t>2027 </a:t>
            </a:r>
            <a:r>
              <a:rPr lang="zh-CN" altLang="en-US" dirty="0" smtClean="0">
                <a:effectLst/>
              </a:rPr>
              <a:t>秋招，境外</a:t>
            </a:r>
            <a:r>
              <a:rPr lang="en-US" altLang="zh-CN" b="1" dirty="0" smtClean="0">
                <a:effectLst/>
              </a:rPr>
              <a:t>2026 </a:t>
            </a:r>
            <a:r>
              <a:rPr lang="zh-CN" altLang="en-US" b="1" dirty="0" smtClean="0">
                <a:effectLst/>
              </a:rPr>
              <a:t>年 </a:t>
            </a:r>
            <a:r>
              <a:rPr lang="en-US" altLang="zh-CN" b="1" dirty="0" smtClean="0">
                <a:effectLst/>
              </a:rPr>
              <a:t>1 </a:t>
            </a:r>
            <a:r>
              <a:rPr lang="zh-CN" altLang="en-US" b="1" dirty="0" smtClean="0">
                <a:effectLst/>
              </a:rPr>
              <a:t>月毕业、尚未就业、待办理留服认证</a:t>
            </a:r>
            <a:r>
              <a:rPr lang="zh-CN" altLang="en-US" dirty="0" smtClean="0">
                <a:effectLst/>
              </a:rPr>
              <a:t>，是否可以报考本次校招？</a:t>
            </a:r>
          </a:p>
          <a:p>
            <a:pPr>
              <a:buFont typeface="+mj-lt"/>
              <a:buAutoNum type="arabicPeriod"/>
            </a:pPr>
            <a:r>
              <a:rPr lang="zh-CN" altLang="en-US" dirty="0" smtClean="0">
                <a:effectLst/>
              </a:rPr>
              <a:t>校招判定应届生，是否只看有没有缴纳国内职工社保？境外毕业时间是否会卡月份？</a:t>
            </a:r>
          </a:p>
          <a:p>
            <a:pPr>
              <a:buFont typeface="+mj-lt"/>
              <a:buAutoNum type="arabicPeriod"/>
            </a:pPr>
            <a:r>
              <a:rPr lang="zh-CN" altLang="en-US" dirty="0" smtClean="0">
                <a:effectLst/>
              </a:rPr>
              <a:t>网申简历里面，留服认证还没拿到，毕业时间一栏如何填写比较稳妥？</a:t>
            </a:r>
          </a:p>
          <a:p>
            <a:r>
              <a:rPr lang="zh-CN" altLang="en-US" b="1" dirty="0" smtClean="0"/>
              <a:t>银行、上海地方国企提问</a:t>
            </a:r>
          </a:p>
          <a:p>
            <a:pPr>
              <a:buFont typeface="+mj-lt"/>
              <a:buAutoNum type="arabicPeriod"/>
            </a:pPr>
            <a:r>
              <a:rPr lang="zh-CN" altLang="en-US" dirty="0" smtClean="0">
                <a:effectLst/>
              </a:rPr>
              <a:t>这个岗位对海外硕士，是否强制要求四六级？托福 </a:t>
            </a:r>
            <a:r>
              <a:rPr lang="en-US" altLang="zh-CN" dirty="0" smtClean="0">
                <a:effectLst/>
              </a:rPr>
              <a:t>/ </a:t>
            </a:r>
            <a:r>
              <a:rPr lang="zh-CN" altLang="en-US" dirty="0" smtClean="0">
                <a:effectLst/>
              </a:rPr>
              <a:t>雅思成绩是否可以替代？</a:t>
            </a:r>
          </a:p>
          <a:p>
            <a:pPr>
              <a:buFont typeface="+mj-lt"/>
              <a:buAutoNum type="arabicPeriod"/>
            </a:pPr>
            <a:r>
              <a:rPr lang="zh-CN" altLang="en-US" dirty="0" smtClean="0">
                <a:effectLst/>
              </a:rPr>
              <a:t>该岗位是定岗还是轮岗，轮岗周期多久，最终工作地点是否确定上海？</a:t>
            </a:r>
          </a:p>
          <a:p>
            <a:pPr>
              <a:buFont typeface="+mj-lt"/>
              <a:buAutoNum type="arabicPeriod"/>
            </a:pPr>
            <a:r>
              <a:rPr lang="zh-CN" altLang="en-US" dirty="0" smtClean="0">
                <a:effectLst/>
              </a:rPr>
              <a:t>网申最多可以投递几个岗位，多岗位是否会互相影响筛选？</a:t>
            </a:r>
          </a:p>
          <a:p>
            <a:r>
              <a:rPr lang="zh-CN" altLang="en-US" b="1" dirty="0" smtClean="0"/>
              <a:t>券商专项提问（重点避坑毕业时间）</a:t>
            </a:r>
          </a:p>
          <a:p>
            <a:pPr>
              <a:buFont typeface="+mj-lt"/>
              <a:buAutoNum type="arabicPeriod"/>
            </a:pPr>
            <a:r>
              <a:rPr lang="zh-CN" altLang="en-US" dirty="0" smtClean="0">
                <a:effectLst/>
              </a:rPr>
              <a:t>这个岗位的境外毕业生，有没有硬性的毕业月份要求？是否必须 </a:t>
            </a:r>
            <a:r>
              <a:rPr lang="en-US" altLang="zh-CN" dirty="0" smtClean="0">
                <a:effectLst/>
              </a:rPr>
              <a:t>2026 </a:t>
            </a:r>
            <a:r>
              <a:rPr lang="zh-CN" altLang="en-US" dirty="0" smtClean="0">
                <a:effectLst/>
              </a:rPr>
              <a:t>年 </a:t>
            </a:r>
            <a:r>
              <a:rPr lang="en-US" altLang="zh-CN" dirty="0" smtClean="0">
                <a:effectLst/>
              </a:rPr>
              <a:t>5 </a:t>
            </a:r>
            <a:r>
              <a:rPr lang="zh-CN" altLang="en-US" dirty="0" smtClean="0">
                <a:effectLst/>
              </a:rPr>
              <a:t>月之后毕业？</a:t>
            </a:r>
          </a:p>
          <a:p>
            <a:pPr>
              <a:buFont typeface="+mj-lt"/>
              <a:buAutoNum type="arabicPeriod"/>
            </a:pPr>
            <a:r>
              <a:rPr lang="zh-CN" altLang="en-US" dirty="0" smtClean="0">
                <a:effectLst/>
              </a:rPr>
              <a:t>该岗位是总部 </a:t>
            </a:r>
            <a:r>
              <a:rPr lang="en-US" altLang="zh-CN" dirty="0" smtClean="0">
                <a:effectLst/>
              </a:rPr>
              <a:t>/ </a:t>
            </a:r>
            <a:r>
              <a:rPr lang="zh-CN" altLang="en-US" dirty="0" smtClean="0">
                <a:effectLst/>
              </a:rPr>
              <a:t>子公司 </a:t>
            </a:r>
            <a:r>
              <a:rPr lang="en-US" altLang="zh-CN" dirty="0" smtClean="0">
                <a:effectLst/>
              </a:rPr>
              <a:t>/ </a:t>
            </a:r>
            <a:r>
              <a:rPr lang="zh-CN" altLang="en-US" dirty="0" smtClean="0">
                <a:effectLst/>
              </a:rPr>
              <a:t>分公司？是否有强制实习答辩、实地实习考核才发 </a:t>
            </a:r>
            <a:r>
              <a:rPr lang="en-US" altLang="zh-CN" dirty="0" smtClean="0">
                <a:effectLst/>
              </a:rPr>
              <a:t>offer</a:t>
            </a:r>
            <a:r>
              <a:rPr lang="zh-CN" altLang="en-US" dirty="0" smtClean="0">
                <a:effectLst/>
              </a:rPr>
              <a:t>？</a:t>
            </a:r>
          </a:p>
          <a:p>
            <a:pPr>
              <a:buFont typeface="+mj-lt"/>
              <a:buAutoNum type="arabicPeriod"/>
            </a:pPr>
            <a:r>
              <a:rPr lang="zh-CN" altLang="en-US" dirty="0" smtClean="0">
                <a:effectLst/>
              </a:rPr>
              <a:t>金工、风控、金融科技后台岗，海归择业期的筛选标准和业务岗是否不一样？</a:t>
            </a:r>
          </a:p>
          <a:p>
            <a:r>
              <a:rPr lang="zh-CN" altLang="en-US" b="1" dirty="0" smtClean="0"/>
              <a:t>收尾小问题（可选）</a:t>
            </a:r>
          </a:p>
          <a:p>
            <a:pPr>
              <a:buFont typeface="+mj-lt"/>
              <a:buAutoNum type="arabicPeriod"/>
            </a:pPr>
            <a:r>
              <a:rPr lang="zh-CN" altLang="en-US" dirty="0" smtClean="0">
                <a:effectLst/>
              </a:rPr>
              <a:t>网申截止是什么时间，建议建议提前几天提交？</a:t>
            </a:r>
          </a:p>
          <a:p>
            <a:pPr>
              <a:buFont typeface="+mj-lt"/>
              <a:buAutoNum type="arabicPeriod"/>
            </a:pPr>
            <a:r>
              <a:rPr lang="zh-CN" altLang="en-US" dirty="0" smtClean="0">
                <a:effectLst/>
              </a:rPr>
              <a:t>后续笔试面试大概什么时间段，是全国统一笔试还是机构自主安排？</a:t>
            </a:r>
          </a:p>
          <a:p>
            <a:r>
              <a:rPr lang="zh-CN" altLang="en-US" b="1" dirty="0" smtClean="0"/>
              <a:t>简短自我介绍模板（</a:t>
            </a:r>
            <a:r>
              <a:rPr lang="en-US" altLang="zh-CN" b="1" dirty="0" smtClean="0"/>
              <a:t>30 </a:t>
            </a:r>
            <a:r>
              <a:rPr lang="zh-CN" altLang="en-US" b="1" dirty="0" smtClean="0"/>
              <a:t>秒，现场递简历配套）</a:t>
            </a:r>
          </a:p>
          <a:p>
            <a:r>
              <a:rPr lang="zh-CN" altLang="en-US" dirty="0" smtClean="0"/>
              <a:t>“您好，我本科上海财经大学，美国 </a:t>
            </a:r>
            <a:r>
              <a:rPr lang="en-US" altLang="zh-CN" dirty="0" smtClean="0"/>
              <a:t>BU </a:t>
            </a:r>
            <a:r>
              <a:rPr lang="zh-CN" altLang="en-US" dirty="0" smtClean="0"/>
              <a:t>硕士 </a:t>
            </a:r>
            <a:r>
              <a:rPr lang="en-US" altLang="zh-CN" dirty="0" smtClean="0"/>
              <a:t>2026 </a:t>
            </a:r>
            <a:r>
              <a:rPr lang="zh-CN" altLang="en-US" dirty="0" smtClean="0"/>
              <a:t>年 </a:t>
            </a:r>
            <a:r>
              <a:rPr lang="en-US" altLang="zh-CN" dirty="0" smtClean="0"/>
              <a:t>1 </a:t>
            </a:r>
            <a:r>
              <a:rPr lang="zh-CN" altLang="en-US" dirty="0" smtClean="0"/>
              <a:t>月毕业，还没有缴纳职工社保，留服认证正在办理，方向是应用统计 </a:t>
            </a:r>
            <a:r>
              <a:rPr lang="en-US" altLang="zh-CN" dirty="0" smtClean="0"/>
              <a:t>/ </a:t>
            </a:r>
            <a:r>
              <a:rPr lang="zh-CN" altLang="en-US" dirty="0" smtClean="0"/>
              <a:t>数理金融，对贵司 </a:t>
            </a:r>
            <a:r>
              <a:rPr lang="en-US" altLang="zh-CN" dirty="0" smtClean="0"/>
              <a:t>XX </a:t>
            </a:r>
            <a:r>
              <a:rPr lang="zh-CN" altLang="en-US" dirty="0" smtClean="0"/>
              <a:t>岗位很感兴趣，想咨询下我的毕业时间是否符合本次校招条件。”</a:t>
            </a:r>
          </a:p>
          <a:p>
            <a:endParaRPr lang="zh-CN" altLang="en-US" dirty="0"/>
          </a:p>
        </p:txBody>
      </p:sp>
    </p:spTree>
    <p:extLst>
      <p:ext uri="{BB962C8B-B14F-4D97-AF65-F5344CB8AC3E}">
        <p14:creationId xmlns:p14="http://schemas.microsoft.com/office/powerpoint/2010/main" val="5110023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1032</Words>
  <Application>Microsoft Office PowerPoint</Application>
  <PresentationFormat>全屏显示(4:3)</PresentationFormat>
  <Paragraphs>61</Paragraphs>
  <Slides>10</Slides>
  <Notes>0</Notes>
  <HiddenSlides>0</HiddenSlides>
  <MMClips>0</MMClips>
  <ScaleCrop>false</ScaleCrop>
  <HeadingPairs>
    <vt:vector size="4" baseType="variant">
      <vt:variant>
        <vt:lpstr>主题</vt:lpstr>
      </vt:variant>
      <vt:variant>
        <vt:i4>1</vt:i4>
      </vt:variant>
      <vt:variant>
        <vt:lpstr>幻灯片标题</vt:lpstr>
      </vt:variant>
      <vt:variant>
        <vt:i4>10</vt:i4>
      </vt:variant>
    </vt:vector>
  </HeadingPairs>
  <TitlesOfParts>
    <vt:vector size="11" baseType="lpstr">
      <vt:lpstr>Office 主题​​</vt:lpstr>
      <vt:lpstr>中国工商银行</vt:lpstr>
      <vt:lpstr>中国农业银行</vt:lpstr>
      <vt:lpstr>中国银行</vt:lpstr>
      <vt:lpstr>中国建设银行</vt:lpstr>
      <vt:lpstr>招商局集团</vt:lpstr>
      <vt:lpstr>中信集团</vt:lpstr>
      <vt:lpstr>　上交所技术有限责任公司</vt:lpstr>
      <vt:lpstr>浦发银行</vt:lpstr>
      <vt:lpstr>PowerPoint 演示文稿</vt:lpstr>
      <vt:lpstr>通用话术</vt:lpstr>
    </vt:vector>
  </TitlesOfParts>
  <Company>Organization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中国工商银行</dc:title>
  <dc:creator>Windows 用户</dc:creator>
  <cp:lastModifiedBy>Windows 用户</cp:lastModifiedBy>
  <cp:revision>5</cp:revision>
  <dcterms:created xsi:type="dcterms:W3CDTF">2026-09-07T02:08:12Z</dcterms:created>
  <dcterms:modified xsi:type="dcterms:W3CDTF">2026-09-07T03:23:56Z</dcterms:modified>
</cp:coreProperties>
</file>