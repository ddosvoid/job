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163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8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39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87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23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1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452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739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2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4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37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72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FF068-323E-4E2C-A454-96D8D1E0A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FCF48-257F-412D-9AF4-0780C9C693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83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ampus.51job.com/zxjrzc2027" TargetMode="External"/><Relationship Id="rId2" Type="http://schemas.openxmlformats.org/officeDocument/2006/relationships/hyperlink" Target="https://job.icbc.com.cn/pc/index.html#/main/school/home/struct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oamc.zhiye.com/custom/xzjh?hideMenu=1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ob.citic.com/recruit#/portal_job_list?job_class=_HA5_vGGnFMhvX22YfeOAr!OJgg%253D%253D&amp;filter_dict=_HA5_1mORUCHIcinkb36TUrcrnACnWbsHEsg!y1SD21gVl6o%253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303133"/>
                </a:solidFill>
                <a:latin typeface="Open Sans"/>
              </a:rPr>
              <a:t>中国中信</a:t>
            </a:r>
            <a:r>
              <a:rPr lang="zh-CN" altLang="en-US" dirty="0" smtClean="0">
                <a:solidFill>
                  <a:srgbClr val="303133"/>
                </a:solidFill>
                <a:latin typeface="Open Sans"/>
              </a:rPr>
              <a:t>金融资产</a:t>
            </a:r>
            <a:r>
              <a:rPr lang="en-US" altLang="zh-CN" dirty="0" smtClean="0">
                <a:solidFill>
                  <a:srgbClr val="303133"/>
                </a:solidFill>
                <a:latin typeface="Open Sans"/>
              </a:rPr>
              <a:t/>
            </a:r>
            <a:br>
              <a:rPr lang="en-US" altLang="zh-CN" dirty="0" smtClean="0">
                <a:solidFill>
                  <a:srgbClr val="303133"/>
                </a:solidFill>
                <a:latin typeface="Open Sans"/>
              </a:rPr>
            </a:br>
            <a:r>
              <a:rPr lang="zh-CN" altLang="en-US" dirty="0" smtClean="0">
                <a:solidFill>
                  <a:srgbClr val="303133"/>
                </a:solidFill>
                <a:latin typeface="Open Sans"/>
              </a:rPr>
              <a:t>管理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股份有限公司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smtClean="0">
                <a:hlinkClick r:id="rId2"/>
              </a:rPr>
              <a:t>https://job.icbc.com.cn/pc/index.html#/main/school/home/struct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303133"/>
                </a:solidFill>
                <a:latin typeface="Open Sans"/>
              </a:rPr>
              <a:t>境外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院校毕业生，应在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2026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年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1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月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1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日至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2027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年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8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月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31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日期间毕业且初次就业，报到时取得学历（学位）证书，以及国家教育部留学服务中心出具的国外学历学位认证书。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303133"/>
                </a:solidFill>
                <a:latin typeface="Open Sans"/>
              </a:rPr>
              <a:t>登录指定校园招聘网站（</a:t>
            </a:r>
            <a:r>
              <a:rPr lang="en-US" altLang="zh-CN" dirty="0">
                <a:solidFill>
                  <a:srgbClr val="303133"/>
                </a:solidFill>
                <a:latin typeface="Open Sans"/>
                <a:hlinkClick r:id="rId3"/>
              </a:rPr>
              <a:t>http://campus.51job.com/zxjrzc2027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），在线填写个人简历，完成职位申请。每人限报</a:t>
            </a:r>
            <a:r>
              <a:rPr lang="en-US" altLang="zh-CN" dirty="0">
                <a:solidFill>
                  <a:srgbClr val="303133"/>
                </a:solidFill>
                <a:latin typeface="Open Sans"/>
              </a:rPr>
              <a:t>2</a:t>
            </a:r>
            <a:r>
              <a:rPr lang="zh-CN" altLang="en-US" dirty="0">
                <a:solidFill>
                  <a:srgbClr val="303133"/>
                </a:solidFill>
                <a:latin typeface="Open Sans"/>
              </a:rPr>
              <a:t>个岗位。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9503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t"/>
            <a:r>
              <a:rPr lang="zh-CN" altLang="en-US" dirty="0">
                <a:solidFill>
                  <a:srgbClr val="000000"/>
                </a:solidFill>
                <a:latin typeface="微软雅黑"/>
              </a:rPr>
              <a:t>中国东方资产管理股份有限公司</a:t>
            </a:r>
            <a:br>
              <a:rPr lang="zh-CN" altLang="en-US" dirty="0">
                <a:solidFill>
                  <a:srgbClr val="000000"/>
                </a:solidFill>
                <a:latin typeface="微软雅黑"/>
              </a:rPr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 smtClean="0">
                <a:hlinkClick r:id="rId2"/>
              </a:rPr>
              <a:t>招聘门户 </a:t>
            </a:r>
            <a:r>
              <a:rPr lang="en-US" altLang="zh-CN" dirty="0">
                <a:hlinkClick r:id="rId2"/>
              </a:rPr>
              <a:t>(zhiye.com</a:t>
            </a:r>
            <a:r>
              <a:rPr lang="en-US" altLang="zh-CN" dirty="0" smtClean="0">
                <a:hlinkClick r:id="rId2"/>
              </a:rPr>
              <a:t>)</a:t>
            </a:r>
            <a:endParaRPr lang="en-US" altLang="zh-CN" dirty="0" smtClean="0"/>
          </a:p>
          <a:p>
            <a:r>
              <a:rPr lang="zh-CN" altLang="en-US" dirty="0" smtClean="0"/>
              <a:t>硕士</a:t>
            </a:r>
            <a:r>
              <a:rPr lang="zh-CN" altLang="en-US" dirty="0"/>
              <a:t>研究生及以上学历，特别优秀者可放宽至大学本科学历，其中，国（境）内高校毕业生需于</a:t>
            </a:r>
            <a:r>
              <a:rPr lang="en-US" altLang="zh-CN" dirty="0"/>
              <a:t>2027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日至</a:t>
            </a:r>
            <a:r>
              <a:rPr lang="en-US" altLang="zh-CN" dirty="0"/>
              <a:t>2027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日期间毕业，获得国家认可的</a:t>
            </a:r>
            <a:r>
              <a:rPr lang="en-US" altLang="zh-CN" dirty="0"/>
              <a:t>2027</a:t>
            </a:r>
            <a:r>
              <a:rPr lang="zh-CN" altLang="en-US" dirty="0"/>
              <a:t>年度毕业证和学位证；初次就业的国（境）外高校留学人员，原则上需在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</a:t>
            </a:r>
            <a:r>
              <a:rPr lang="zh-CN" altLang="en-US" dirty="0"/>
              <a:t>日至</a:t>
            </a:r>
            <a:r>
              <a:rPr lang="en-US" altLang="zh-CN" dirty="0"/>
              <a:t>2027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31</a:t>
            </a:r>
            <a:r>
              <a:rPr lang="zh-CN" altLang="en-US" dirty="0"/>
              <a:t>日期间取得学位证书，并获得教育部留学服务中心出具的学历学位认证书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666666"/>
                </a:solidFill>
                <a:latin typeface="微软雅黑"/>
              </a:rPr>
              <a:t>报名方式采用简历投递报名（即日起至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2026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年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9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月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18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日）。请登录中国东方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PC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端校园招聘门户（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https://coamc.zhiye.com/campus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）进行注册并投递简历。每名应聘者限投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2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个岗位，志愿不分先后，简历一经投递，不可修改。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4167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</a:t>
            </a:r>
            <a:r>
              <a:rPr lang="zh-CN" altLang="en-US" dirty="0" smtClean="0"/>
              <a:t>信集团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hlinkClick r:id="rId2"/>
              </a:rPr>
              <a:t>中信集团人才招聘系统 </a:t>
            </a:r>
            <a:r>
              <a:rPr lang="en-US" altLang="zh-CN" dirty="0">
                <a:hlinkClick r:id="rId2"/>
              </a:rPr>
              <a:t>(citic.com)</a:t>
            </a:r>
            <a:endParaRPr lang="en-US" altLang="zh-CN" dirty="0">
              <a:latin typeface="-apple-system"/>
            </a:endParaRPr>
          </a:p>
          <a:p>
            <a:r>
              <a:rPr lang="en-US" altLang="zh-CN" dirty="0" smtClean="0">
                <a:latin typeface="-apple-system"/>
              </a:rPr>
              <a:t>2026</a:t>
            </a:r>
            <a:r>
              <a:rPr lang="zh-CN" altLang="en-US" dirty="0">
                <a:latin typeface="-apple-system"/>
              </a:rPr>
              <a:t>年</a:t>
            </a:r>
            <a:r>
              <a:rPr lang="en-US" altLang="zh-CN" dirty="0">
                <a:latin typeface="-apple-system"/>
              </a:rPr>
              <a:t>1</a:t>
            </a:r>
            <a:r>
              <a:rPr lang="zh-CN" altLang="en-US" dirty="0">
                <a:latin typeface="-apple-system"/>
              </a:rPr>
              <a:t>月至</a:t>
            </a:r>
            <a:r>
              <a:rPr lang="en-US" altLang="zh-CN" dirty="0">
                <a:latin typeface="-apple-system"/>
              </a:rPr>
              <a:t>2027</a:t>
            </a:r>
            <a:r>
              <a:rPr lang="zh-CN" altLang="en-US" dirty="0">
                <a:latin typeface="-apple-system"/>
              </a:rPr>
              <a:t>年</a:t>
            </a:r>
            <a:r>
              <a:rPr lang="en-US" altLang="zh-CN" dirty="0">
                <a:latin typeface="-apple-system"/>
              </a:rPr>
              <a:t>7</a:t>
            </a:r>
            <a:r>
              <a:rPr lang="zh-CN" altLang="en-US" dirty="0">
                <a:latin typeface="-apple-system"/>
              </a:rPr>
              <a:t>月期间毕业的境内外高等院校硕士研究生及以上学历应届毕业生，且在</a:t>
            </a:r>
            <a:r>
              <a:rPr lang="en-US" altLang="zh-CN" dirty="0">
                <a:latin typeface="-apple-system"/>
              </a:rPr>
              <a:t>2027</a:t>
            </a:r>
            <a:r>
              <a:rPr lang="zh-CN" altLang="en-US" dirty="0">
                <a:latin typeface="-apple-system"/>
              </a:rPr>
              <a:t>年</a:t>
            </a:r>
            <a:r>
              <a:rPr lang="en-US" altLang="zh-CN" dirty="0">
                <a:latin typeface="-apple-system"/>
              </a:rPr>
              <a:t>7</a:t>
            </a:r>
            <a:r>
              <a:rPr lang="zh-CN" altLang="en-US" dirty="0">
                <a:latin typeface="-apple-system"/>
              </a:rPr>
              <a:t>月</a:t>
            </a:r>
            <a:r>
              <a:rPr lang="en-US" altLang="zh-CN" dirty="0">
                <a:latin typeface="-apple-system"/>
              </a:rPr>
              <a:t>31</a:t>
            </a:r>
            <a:r>
              <a:rPr lang="zh-CN" altLang="en-US" dirty="0">
                <a:latin typeface="-apple-system"/>
              </a:rPr>
              <a:t>日前获得国家认可的毕业证、学位证或国家教育部留学服务中心的学历学位认证</a:t>
            </a:r>
            <a:r>
              <a:rPr lang="zh-CN" altLang="en-US" dirty="0" smtClean="0">
                <a:latin typeface="-apple-system"/>
              </a:rPr>
              <a:t>；</a:t>
            </a:r>
            <a:endParaRPr lang="en-US" altLang="zh-CN" dirty="0" smtClean="0">
              <a:latin typeface="-apple-system"/>
            </a:endParaRPr>
          </a:p>
          <a:p>
            <a:r>
              <a:rPr lang="zh-CN" altLang="en-US" dirty="0">
                <a:solidFill>
                  <a:srgbClr val="666666"/>
                </a:solidFill>
                <a:latin typeface="微软雅黑"/>
              </a:rPr>
              <a:t>报名方式采用简历投递报名（即日起至</a:t>
            </a:r>
            <a:r>
              <a:rPr lang="en-US" altLang="zh-CN" dirty="0">
                <a:solidFill>
                  <a:srgbClr val="666666"/>
                </a:solidFill>
                <a:latin typeface="微软雅黑"/>
              </a:rPr>
              <a:t>2026</a:t>
            </a:r>
            <a:r>
              <a:rPr lang="zh-CN" altLang="en-US" dirty="0" smtClean="0">
                <a:solidFill>
                  <a:srgbClr val="666666"/>
                </a:solidFill>
                <a:latin typeface="微软雅黑"/>
              </a:rPr>
              <a:t>年</a:t>
            </a:r>
            <a:r>
              <a:rPr lang="en-US" altLang="zh-CN" dirty="0" smtClean="0">
                <a:solidFill>
                  <a:srgbClr val="666666"/>
                </a:solidFill>
                <a:latin typeface="微软雅黑"/>
              </a:rPr>
              <a:t>10</a:t>
            </a:r>
            <a:r>
              <a:rPr lang="zh-CN" altLang="en-US" dirty="0" smtClean="0">
                <a:solidFill>
                  <a:srgbClr val="666666"/>
                </a:solidFill>
                <a:latin typeface="微软雅黑"/>
              </a:rPr>
              <a:t>月</a:t>
            </a:r>
            <a:r>
              <a:rPr lang="en-US" altLang="zh-CN" dirty="0" smtClean="0">
                <a:solidFill>
                  <a:srgbClr val="666666"/>
                </a:solidFill>
                <a:latin typeface="微软雅黑"/>
              </a:rPr>
              <a:t>11</a:t>
            </a:r>
            <a:r>
              <a:rPr lang="zh-CN" altLang="en-US" dirty="0" smtClean="0">
                <a:solidFill>
                  <a:srgbClr val="666666"/>
                </a:solidFill>
                <a:latin typeface="微软雅黑"/>
              </a:rPr>
              <a:t>日</a:t>
            </a:r>
            <a:r>
              <a:rPr lang="zh-CN" altLang="en-US" dirty="0">
                <a:solidFill>
                  <a:srgbClr val="666666"/>
                </a:solidFill>
                <a:latin typeface="微软雅黑"/>
              </a:rPr>
              <a:t>）</a:t>
            </a:r>
            <a:endParaRPr lang="en-US" altLang="zh-CN" dirty="0" smtClean="0">
              <a:latin typeface="-apple-system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280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327</Words>
  <Application>Microsoft Office PowerPoint</Application>
  <PresentationFormat>全屏显示(4:3)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主题​​</vt:lpstr>
      <vt:lpstr>中国中信金融资产 管理股份有限公司</vt:lpstr>
      <vt:lpstr>中国东方资产管理股份有限公司 </vt:lpstr>
      <vt:lpstr>中信集团</vt:lpstr>
    </vt:vector>
  </TitlesOfParts>
  <Company>Organization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中国工商银行</dc:title>
  <dc:creator>Windows 用户</dc:creator>
  <cp:lastModifiedBy>Windows 用户</cp:lastModifiedBy>
  <cp:revision>7</cp:revision>
  <dcterms:created xsi:type="dcterms:W3CDTF">2026-09-07T02:08:12Z</dcterms:created>
  <dcterms:modified xsi:type="dcterms:W3CDTF">2026-09-10T08:02:53Z</dcterms:modified>
</cp:coreProperties>
</file>